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74" r:id="rId3"/>
    <p:sldId id="275" r:id="rId4"/>
    <p:sldId id="258" r:id="rId5"/>
    <p:sldId id="265" r:id="rId6"/>
    <p:sldId id="260" r:id="rId7"/>
    <p:sldId id="262" r:id="rId8"/>
    <p:sldId id="276" r:id="rId9"/>
    <p:sldId id="273" r:id="rId10"/>
    <p:sldId id="268" r:id="rId11"/>
    <p:sldId id="257" r:id="rId12"/>
    <p:sldId id="271" r:id="rId13"/>
    <p:sldId id="270" r:id="rId14"/>
    <p:sldId id="279" r:id="rId15"/>
    <p:sldId id="278" r:id="rId16"/>
    <p:sldId id="277" r:id="rId17"/>
  </p:sldIdLst>
  <p:sldSz cx="18288000" cy="10287000"/>
  <p:notesSz cx="6858000" cy="9144000"/>
  <p:embeddedFontLst>
    <p:embeddedFont>
      <p:font typeface="Agrandir" pitchFamily="2" charset="77"/>
      <p:regular r:id="rId18"/>
    </p:embeddedFont>
    <p:embeddedFont>
      <p:font typeface="Agrandir Bold" pitchFamily="2" charset="77"/>
      <p:regular r:id="rId19"/>
      <p:bold r:id="rId20"/>
    </p:embeddedFont>
    <p:embeddedFont>
      <p:font typeface="Aptos Narrow" panose="020B0004020202020204" pitchFamily="34" charset="0"/>
      <p:regular r:id="rId21"/>
      <p:bold r:id="rId22"/>
      <p:italic r:id="rId23"/>
      <p:boldItalic r:id="rId24"/>
    </p:embeddedFont>
    <p:embeddedFont>
      <p:font typeface="Baloo Bhaijaan" panose="03080902040302020200" pitchFamily="66" charset="-78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 autoAdjust="0"/>
    <p:restoredTop sz="95646" autoAdjust="0"/>
  </p:normalViewPr>
  <p:slideViewPr>
    <p:cSldViewPr>
      <p:cViewPr varScale="1">
        <p:scale>
          <a:sx n="69" d="100"/>
          <a:sy n="69" d="100"/>
        </p:scale>
        <p:origin x="256" y="6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38707" y="2306961"/>
            <a:ext cx="7775494" cy="6423234"/>
          </a:xfrm>
          <a:custGeom>
            <a:avLst/>
            <a:gdLst/>
            <a:ahLst/>
            <a:cxnLst/>
            <a:rect l="l" t="t" r="r" b="b"/>
            <a:pathLst>
              <a:path w="7775494" h="6423234">
                <a:moveTo>
                  <a:pt x="0" y="0"/>
                </a:moveTo>
                <a:lnTo>
                  <a:pt x="7775494" y="0"/>
                </a:lnTo>
                <a:lnTo>
                  <a:pt x="7775494" y="6423234"/>
                </a:lnTo>
                <a:lnTo>
                  <a:pt x="0" y="64232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  <p:sp>
        <p:nvSpPr>
          <p:cNvPr id="3" name="TextBox 3"/>
          <p:cNvSpPr txBox="1"/>
          <p:nvPr/>
        </p:nvSpPr>
        <p:spPr>
          <a:xfrm>
            <a:off x="413807" y="2705100"/>
            <a:ext cx="10406593" cy="2462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/>
            <a:r>
              <a:rPr lang="en-US" sz="8000" b="1" spc="-150" dirty="0">
                <a:solidFill>
                  <a:srgbClr val="171717"/>
                </a:solidFill>
                <a:latin typeface="Baloo Bhaijaan" panose="03080902040302020200" pitchFamily="66" charset="-78"/>
                <a:ea typeface="Agrandir Bold"/>
                <a:cs typeface="Baloo Bhaijaan" panose="03080902040302020200" pitchFamily="66" charset="-78"/>
                <a:sym typeface="Agrandir Bold"/>
              </a:rPr>
              <a:t>Economic Predictions </a:t>
            </a:r>
          </a:p>
          <a:p>
            <a:pPr marL="0" lvl="0" indent="0" algn="l"/>
            <a:r>
              <a:rPr lang="en-US" sz="8000" b="1" spc="-150" dirty="0">
                <a:solidFill>
                  <a:srgbClr val="171717"/>
                </a:solidFill>
                <a:latin typeface="Baloo Bhaijaan" panose="03080902040302020200" pitchFamily="66" charset="-78"/>
                <a:ea typeface="Agrandir Bold"/>
                <a:cs typeface="Baloo Bhaijaan" panose="03080902040302020200" pitchFamily="66" charset="-78"/>
                <a:sym typeface="Agrandir Bold"/>
              </a:rPr>
              <a:t>By Layoffs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023407" y="5829300"/>
            <a:ext cx="6556394" cy="962406"/>
            <a:chOff x="0" y="0"/>
            <a:chExt cx="1726787" cy="25347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26787" cy="253473"/>
            </a:xfrm>
            <a:custGeom>
              <a:avLst/>
              <a:gdLst/>
              <a:ahLst/>
              <a:cxnLst/>
              <a:rect l="l" t="t" r="r" b="b"/>
              <a:pathLst>
                <a:path w="1726787" h="253473">
                  <a:moveTo>
                    <a:pt x="60222" y="0"/>
                  </a:moveTo>
                  <a:lnTo>
                    <a:pt x="1666565" y="0"/>
                  </a:lnTo>
                  <a:cubicBezTo>
                    <a:pt x="1699825" y="0"/>
                    <a:pt x="1726787" y="26962"/>
                    <a:pt x="1726787" y="60222"/>
                  </a:cubicBezTo>
                  <a:lnTo>
                    <a:pt x="1726787" y="193251"/>
                  </a:lnTo>
                  <a:cubicBezTo>
                    <a:pt x="1726787" y="209223"/>
                    <a:pt x="1720442" y="224541"/>
                    <a:pt x="1709149" y="235835"/>
                  </a:cubicBezTo>
                  <a:cubicBezTo>
                    <a:pt x="1697855" y="247128"/>
                    <a:pt x="1682537" y="253473"/>
                    <a:pt x="1666565" y="253473"/>
                  </a:cubicBezTo>
                  <a:lnTo>
                    <a:pt x="60222" y="253473"/>
                  </a:lnTo>
                  <a:cubicBezTo>
                    <a:pt x="26962" y="253473"/>
                    <a:pt x="0" y="226511"/>
                    <a:pt x="0" y="193251"/>
                  </a:cubicBezTo>
                  <a:lnTo>
                    <a:pt x="0" y="60222"/>
                  </a:lnTo>
                  <a:cubicBezTo>
                    <a:pt x="0" y="26962"/>
                    <a:pt x="26962" y="0"/>
                    <a:pt x="6022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TW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9050"/>
              <a:ext cx="1726787" cy="2725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50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47276" y="5891720"/>
            <a:ext cx="6508655" cy="592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dirty="0" err="1">
                <a:solidFill>
                  <a:srgbClr val="171717"/>
                </a:solidFill>
                <a:latin typeface="Agrandir"/>
                <a:ea typeface="Agrandir"/>
                <a:cs typeface="Agrandir"/>
                <a:sym typeface="Agrandir"/>
              </a:rPr>
              <a:t>Shuhan</a:t>
            </a:r>
            <a:r>
              <a:rPr lang="en-US" sz="3399" dirty="0">
                <a:solidFill>
                  <a:srgbClr val="171717"/>
                </a:solidFill>
                <a:latin typeface="Agrandir"/>
                <a:ea typeface="Agrandir"/>
                <a:cs typeface="Agrandir"/>
                <a:sym typeface="Agrandir"/>
              </a:rPr>
              <a:t> Jhang</a:t>
            </a:r>
          </a:p>
        </p:txBody>
      </p:sp>
      <p:sp>
        <p:nvSpPr>
          <p:cNvPr id="9" name="Freeform 9"/>
          <p:cNvSpPr/>
          <p:nvPr/>
        </p:nvSpPr>
        <p:spPr>
          <a:xfrm>
            <a:off x="1023407" y="818979"/>
            <a:ext cx="594957" cy="327767"/>
          </a:xfrm>
          <a:custGeom>
            <a:avLst/>
            <a:gdLst/>
            <a:ahLst/>
            <a:cxnLst/>
            <a:rect l="l" t="t" r="r" b="b"/>
            <a:pathLst>
              <a:path w="594957" h="327767">
                <a:moveTo>
                  <a:pt x="0" y="0"/>
                </a:moveTo>
                <a:lnTo>
                  <a:pt x="594957" y="0"/>
                </a:lnTo>
                <a:lnTo>
                  <a:pt x="594957" y="327767"/>
                </a:lnTo>
                <a:lnTo>
                  <a:pt x="0" y="3277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  <p:sp>
        <p:nvSpPr>
          <p:cNvPr id="10" name="TextBox 10"/>
          <p:cNvSpPr txBox="1"/>
          <p:nvPr/>
        </p:nvSpPr>
        <p:spPr>
          <a:xfrm>
            <a:off x="14327317" y="779091"/>
            <a:ext cx="1564422" cy="321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2"/>
              </a:lnSpc>
              <a:spcBef>
                <a:spcPct val="0"/>
              </a:spcBef>
            </a:pPr>
            <a:r>
              <a:rPr lang="en-US" sz="1580">
                <a:solidFill>
                  <a:srgbClr val="171717"/>
                </a:solidFill>
                <a:latin typeface="Agrandir"/>
                <a:ea typeface="Agrandir"/>
                <a:cs typeface="Agrandir"/>
                <a:sym typeface="Agrandir"/>
              </a:rPr>
              <a:t>CONTENT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234639" y="779091"/>
            <a:ext cx="1564422" cy="321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2"/>
              </a:lnSpc>
              <a:spcBef>
                <a:spcPct val="0"/>
              </a:spcBef>
            </a:pPr>
            <a:r>
              <a:rPr lang="en-US" sz="1580" dirty="0">
                <a:solidFill>
                  <a:srgbClr val="171717"/>
                </a:solidFill>
                <a:latin typeface="Agrandir"/>
                <a:ea typeface="Agrandir"/>
                <a:cs typeface="Agrandir"/>
                <a:sym typeface="Agrandir"/>
              </a:rPr>
              <a:t>OTHERS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126917" y="779091"/>
            <a:ext cx="922798" cy="321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2"/>
              </a:lnSpc>
              <a:spcBef>
                <a:spcPct val="0"/>
              </a:spcBef>
            </a:pPr>
            <a:r>
              <a:rPr lang="en-US" sz="1580">
                <a:solidFill>
                  <a:srgbClr val="171717"/>
                </a:solidFill>
                <a:latin typeface="Agrandir"/>
                <a:ea typeface="Agrandir"/>
                <a:cs typeface="Agrandir"/>
                <a:sym typeface="Agrandir"/>
              </a:rPr>
              <a:t>HOME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612817" y="779091"/>
            <a:ext cx="922798" cy="321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2"/>
              </a:lnSpc>
              <a:spcBef>
                <a:spcPct val="0"/>
              </a:spcBef>
            </a:pPr>
            <a:r>
              <a:rPr lang="en-US" sz="1580">
                <a:solidFill>
                  <a:srgbClr val="171717"/>
                </a:solidFill>
                <a:latin typeface="Agrandir"/>
                <a:ea typeface="Agrandir"/>
                <a:cs typeface="Agrandir"/>
                <a:sym typeface="Agrandir"/>
              </a:rPr>
              <a:t>ABOUT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4">
            <a:extLst>
              <a:ext uri="{FF2B5EF4-FFF2-40B4-BE49-F238E27FC236}">
                <a16:creationId xmlns:a16="http://schemas.microsoft.com/office/drawing/2014/main" id="{A540A3B3-3F93-E31F-9D0A-D398F6ECFDE2}"/>
              </a:ext>
            </a:extLst>
          </p:cNvPr>
          <p:cNvSpPr/>
          <p:nvPr/>
        </p:nvSpPr>
        <p:spPr>
          <a:xfrm flipH="1">
            <a:off x="401626" y="5114585"/>
            <a:ext cx="5847602" cy="4393150"/>
          </a:xfrm>
          <a:custGeom>
            <a:avLst/>
            <a:gdLst/>
            <a:ahLst/>
            <a:cxnLst/>
            <a:rect l="l" t="t" r="r" b="b"/>
            <a:pathLst>
              <a:path w="8831700" h="6563831">
                <a:moveTo>
                  <a:pt x="8831700" y="0"/>
                </a:moveTo>
                <a:lnTo>
                  <a:pt x="0" y="0"/>
                </a:lnTo>
                <a:lnTo>
                  <a:pt x="0" y="6563831"/>
                </a:lnTo>
                <a:lnTo>
                  <a:pt x="8831700" y="6563831"/>
                </a:lnTo>
                <a:lnTo>
                  <a:pt x="88317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 dirty="0"/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90792CD1-DF1C-301C-03BC-64F694422922}"/>
              </a:ext>
            </a:extLst>
          </p:cNvPr>
          <p:cNvSpPr txBox="1"/>
          <p:nvPr/>
        </p:nvSpPr>
        <p:spPr>
          <a:xfrm>
            <a:off x="401626" y="559195"/>
            <a:ext cx="11907419" cy="13272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9799"/>
              </a:lnSpc>
            </a:pPr>
            <a:r>
              <a:rPr lang="en-US" sz="9999" b="1" spc="-150" dirty="0">
                <a:solidFill>
                  <a:srgbClr val="171717"/>
                </a:solidFill>
                <a:latin typeface="Agrandir Bold"/>
                <a:ea typeface="Agrandir Bold"/>
                <a:cs typeface="Agrandir Bold"/>
                <a:sym typeface="Agrandir Bold"/>
              </a:rPr>
              <a:t>Problem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41B3DF-22C3-3CA7-E2F4-D1A595A241D7}"/>
              </a:ext>
            </a:extLst>
          </p:cNvPr>
          <p:cNvSpPr txBox="1"/>
          <p:nvPr/>
        </p:nvSpPr>
        <p:spPr>
          <a:xfrm>
            <a:off x="6383044" y="2388900"/>
            <a:ext cx="1099055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3600" b="0" i="0" u="none" strike="noStrike" dirty="0">
                <a:solidFill>
                  <a:srgbClr val="000000"/>
                </a:solidFill>
                <a:effectLst/>
              </a:rPr>
              <a:t>Global layoffs surged during and after COVID-19, impacting economic stability.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600" b="0" i="0" u="none" strike="noStrike" dirty="0">
                <a:solidFill>
                  <a:srgbClr val="000000"/>
                </a:solidFill>
                <a:effectLst/>
              </a:rPr>
              <a:t>Companies, investors, and policymakers need early signals of market downturn or recovery.</a:t>
            </a:r>
          </a:p>
          <a:p>
            <a:pPr algn="l"/>
            <a:endParaRPr lang="en-US" sz="3600" b="0" i="0" u="none" strike="noStrike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600" b="1" i="0" u="none" strike="noStrike" dirty="0">
                <a:solidFill>
                  <a:srgbClr val="000000"/>
                </a:solidFill>
                <a:effectLst/>
              </a:rPr>
              <a:t>Problem:</a:t>
            </a:r>
            <a:endParaRPr lang="en-US" sz="3600" b="0" i="0" u="none" strike="noStrike" dirty="0">
              <a:solidFill>
                <a:srgbClr val="000000"/>
              </a:solidFill>
              <a:effectLst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3600" b="0" i="0" u="none" strike="noStrike" dirty="0">
                <a:solidFill>
                  <a:srgbClr val="000000"/>
                </a:solidFill>
                <a:effectLst/>
              </a:rPr>
              <a:t>Can layoff data predict movements in major U.S. financial indices such as </a:t>
            </a:r>
            <a:r>
              <a:rPr lang="en-US" sz="3600" b="1" i="0" u="none" strike="noStrike" dirty="0">
                <a:solidFill>
                  <a:srgbClr val="000000"/>
                </a:solidFill>
                <a:effectLst/>
              </a:rPr>
              <a:t>VIX</a:t>
            </a:r>
            <a:r>
              <a:rPr lang="en-US" sz="3600" b="0" i="0" u="none" strike="noStrike" dirty="0">
                <a:solidFill>
                  <a:srgbClr val="000000"/>
                </a:solidFill>
                <a:effectLst/>
              </a:rPr>
              <a:t>, </a:t>
            </a:r>
            <a:r>
              <a:rPr lang="en-US" sz="3600" b="1" i="0" u="none" strike="noStrike" dirty="0">
                <a:solidFill>
                  <a:srgbClr val="000000"/>
                </a:solidFill>
                <a:effectLst/>
              </a:rPr>
              <a:t>S&amp;P 500</a:t>
            </a:r>
            <a:r>
              <a:rPr lang="en-US" sz="3600" b="0" i="0" u="none" strike="noStrike" dirty="0">
                <a:solidFill>
                  <a:srgbClr val="000000"/>
                </a:solidFill>
                <a:effectLst/>
              </a:rPr>
              <a:t>, and </a:t>
            </a:r>
            <a:r>
              <a:rPr lang="en-US" sz="3600" b="1" i="0" u="none" strike="noStrike" dirty="0">
                <a:solidFill>
                  <a:srgbClr val="000000"/>
                </a:solidFill>
                <a:effectLst/>
              </a:rPr>
              <a:t>Dow Jones</a:t>
            </a:r>
            <a:r>
              <a:rPr lang="en-US" sz="3600" b="0" i="0" u="none" strike="noStrike" dirty="0">
                <a:solidFill>
                  <a:srgbClr val="000000"/>
                </a:solidFill>
                <a:effectLst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806306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952B121C-9A9F-19F6-587C-E2C7DFC40D3C}"/>
              </a:ext>
            </a:extLst>
          </p:cNvPr>
          <p:cNvSpPr/>
          <p:nvPr/>
        </p:nvSpPr>
        <p:spPr>
          <a:xfrm>
            <a:off x="9144000" y="4000500"/>
            <a:ext cx="7752180" cy="4844509"/>
          </a:xfrm>
          <a:custGeom>
            <a:avLst/>
            <a:gdLst/>
            <a:ahLst/>
            <a:cxnLst/>
            <a:rect l="l" t="t" r="r" b="b"/>
            <a:pathLst>
              <a:path w="11733517" h="7527379">
                <a:moveTo>
                  <a:pt x="0" y="0"/>
                </a:moveTo>
                <a:lnTo>
                  <a:pt x="11733518" y="0"/>
                </a:lnTo>
                <a:lnTo>
                  <a:pt x="11733518" y="7527379"/>
                </a:lnTo>
                <a:lnTo>
                  <a:pt x="0" y="75273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  <p:sp>
        <p:nvSpPr>
          <p:cNvPr id="3" name="Freeform 10">
            <a:extLst>
              <a:ext uri="{FF2B5EF4-FFF2-40B4-BE49-F238E27FC236}">
                <a16:creationId xmlns:a16="http://schemas.microsoft.com/office/drawing/2014/main" id="{D20AD2C2-D464-D764-727E-D6BF88A047DB}"/>
              </a:ext>
            </a:extLst>
          </p:cNvPr>
          <p:cNvSpPr/>
          <p:nvPr/>
        </p:nvSpPr>
        <p:spPr>
          <a:xfrm rot="4128628">
            <a:off x="5467762" y="5711031"/>
            <a:ext cx="2950826" cy="2961595"/>
          </a:xfrm>
          <a:custGeom>
            <a:avLst/>
            <a:gdLst/>
            <a:ahLst/>
            <a:cxnLst/>
            <a:rect l="l" t="t" r="r" b="b"/>
            <a:pathLst>
              <a:path w="2950826" h="2961595">
                <a:moveTo>
                  <a:pt x="0" y="0"/>
                </a:moveTo>
                <a:lnTo>
                  <a:pt x="2950825" y="0"/>
                </a:lnTo>
                <a:lnTo>
                  <a:pt x="2950825" y="2961595"/>
                </a:lnTo>
                <a:lnTo>
                  <a:pt x="0" y="296159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F40AB484-838A-2034-D8F7-7B1419F791CF}"/>
              </a:ext>
            </a:extLst>
          </p:cNvPr>
          <p:cNvSpPr txBox="1"/>
          <p:nvPr/>
        </p:nvSpPr>
        <p:spPr>
          <a:xfrm>
            <a:off x="838200" y="1441991"/>
            <a:ext cx="8018950" cy="38407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9799"/>
              </a:lnSpc>
            </a:pPr>
            <a:r>
              <a:rPr lang="en-US" sz="9999" b="1" spc="-150" dirty="0">
                <a:solidFill>
                  <a:srgbClr val="171717"/>
                </a:solidFill>
                <a:latin typeface="Agrandir Bold"/>
                <a:ea typeface="Agrandir Bold"/>
                <a:cs typeface="Agrandir Bold"/>
                <a:sym typeface="Agrandir Bold"/>
              </a:rPr>
              <a:t>Solution: </a:t>
            </a:r>
          </a:p>
          <a:p>
            <a:pPr marL="0" lvl="0" indent="0">
              <a:lnSpc>
                <a:spcPts val="9799"/>
              </a:lnSpc>
            </a:pPr>
            <a:r>
              <a:rPr lang="en-US" sz="9999" b="1" spc="-150" dirty="0">
                <a:solidFill>
                  <a:srgbClr val="171717"/>
                </a:solidFill>
                <a:latin typeface="Agrandir Bold"/>
                <a:sym typeface="Agrandir Bold"/>
              </a:rPr>
              <a:t>Prediction</a:t>
            </a:r>
          </a:p>
          <a:p>
            <a:pPr marL="0" lvl="0" indent="0">
              <a:lnSpc>
                <a:spcPts val="9799"/>
              </a:lnSpc>
            </a:pPr>
            <a:r>
              <a:rPr lang="en-US" sz="9999" b="1" spc="-150" dirty="0">
                <a:solidFill>
                  <a:srgbClr val="171717"/>
                </a:solidFill>
                <a:latin typeface="Agrandir Bold"/>
              </a:rPr>
              <a:t>Model </a:t>
            </a:r>
            <a:endParaRPr lang="en-US" sz="9999" b="1" spc="-150" dirty="0">
              <a:solidFill>
                <a:srgbClr val="171717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</p:spTree>
    <p:extLst>
      <p:ext uri="{BB962C8B-B14F-4D97-AF65-F5344CB8AC3E}">
        <p14:creationId xmlns:p14="http://schemas.microsoft.com/office/powerpoint/2010/main" val="13803447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 flipH="1">
            <a:off x="401626" y="5981699"/>
            <a:ext cx="4017974" cy="3526035"/>
          </a:xfrm>
          <a:custGeom>
            <a:avLst/>
            <a:gdLst/>
            <a:ahLst/>
            <a:cxnLst/>
            <a:rect l="l" t="t" r="r" b="b"/>
            <a:pathLst>
              <a:path w="8831700" h="6563831">
                <a:moveTo>
                  <a:pt x="8831700" y="0"/>
                </a:moveTo>
                <a:lnTo>
                  <a:pt x="0" y="0"/>
                </a:lnTo>
                <a:lnTo>
                  <a:pt x="0" y="6563831"/>
                </a:lnTo>
                <a:lnTo>
                  <a:pt x="8831700" y="6563831"/>
                </a:lnTo>
                <a:lnTo>
                  <a:pt x="88317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 dirty="0"/>
          </a:p>
        </p:txBody>
      </p:sp>
      <p:sp>
        <p:nvSpPr>
          <p:cNvPr id="9" name="TextBox 9"/>
          <p:cNvSpPr txBox="1"/>
          <p:nvPr/>
        </p:nvSpPr>
        <p:spPr>
          <a:xfrm>
            <a:off x="401626" y="559195"/>
            <a:ext cx="11907419" cy="13272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9799"/>
              </a:lnSpc>
            </a:pPr>
            <a:r>
              <a:rPr lang="en-US" sz="9999" b="1" spc="-649" dirty="0">
                <a:solidFill>
                  <a:srgbClr val="171717"/>
                </a:solidFill>
                <a:latin typeface="Agrandir Bold"/>
                <a:ea typeface="Agrandir Bold"/>
                <a:cs typeface="Agrandir Bold"/>
                <a:sym typeface="Agrandir Bold"/>
              </a:rPr>
              <a:t>Dataset &amp; Feature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038601" y="2933700"/>
            <a:ext cx="6248400" cy="4431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3200" b="1" i="0" u="none" strike="noStrike" dirty="0">
                <a:solidFill>
                  <a:srgbClr val="000000"/>
                </a:solidFill>
                <a:effectLst/>
              </a:rPr>
              <a:t>Datasets Used</a:t>
            </a:r>
            <a:endParaRPr lang="en-US" sz="3200" b="0" i="0" u="none" strike="noStrike" dirty="0">
              <a:solidFill>
                <a:srgbClr val="000000"/>
              </a:solidFill>
              <a:effectLst/>
            </a:endParaRPr>
          </a:p>
          <a:p>
            <a:pPr algn="l">
              <a:buFont typeface="+mj-lt"/>
              <a:buAutoNum type="arabicPeriod"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</a:rPr>
              <a:t>World Layoff Dataset (2020–2023)</a:t>
            </a:r>
            <a:endParaRPr lang="en-US" sz="3200" b="0" i="0" u="none" strike="noStrike" dirty="0">
              <a:solidFill>
                <a:srgbClr val="000000"/>
              </a:solidFill>
              <a:effectLst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Percentage laid off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Company, industry, country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Layoff Index</a:t>
            </a:r>
          </a:p>
          <a:p>
            <a:pPr algn="l">
              <a:buFont typeface="+mj-lt"/>
              <a:buAutoNum type="arabicPeriod"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</a:rPr>
              <a:t>Financial Datasets</a:t>
            </a:r>
            <a:endParaRPr lang="en-US" sz="3200" b="0" i="0" u="none" strike="noStrike" dirty="0">
              <a:solidFill>
                <a:srgbClr val="000000"/>
              </a:solidFill>
              <a:effectLst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</a:rPr>
              <a:t>VIX Index (fear index)</a:t>
            </a:r>
            <a:endParaRPr lang="en-US" sz="3200" b="0" i="0" u="none" strike="noStrike" dirty="0">
              <a:solidFill>
                <a:srgbClr val="000000"/>
              </a:solidFill>
              <a:effectLst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</a:rPr>
              <a:t>S&amp;P 500 values</a:t>
            </a:r>
            <a:endParaRPr lang="en-US" sz="3200" b="0" i="0" u="none" strike="noStrike" dirty="0">
              <a:solidFill>
                <a:srgbClr val="000000"/>
              </a:solidFill>
              <a:effectLst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</a:rPr>
              <a:t>Dow Jones values</a:t>
            </a:r>
            <a:endParaRPr lang="en-US" sz="3200" b="0" i="0" u="none" strike="noStrike" dirty="0">
              <a:solidFill>
                <a:srgbClr val="000000"/>
              </a:solidFill>
              <a:effectLst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CFB8D6-0DB8-9DCD-35DB-AF5A4574EBA1}"/>
              </a:ext>
            </a:extLst>
          </p:cNvPr>
          <p:cNvSpPr txBox="1"/>
          <p:nvPr/>
        </p:nvSpPr>
        <p:spPr>
          <a:xfrm>
            <a:off x="10647375" y="2933700"/>
            <a:ext cx="725962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200" b="1" i="0" u="none" strike="noStrike" dirty="0">
                <a:solidFill>
                  <a:srgbClr val="000000"/>
                </a:solidFill>
                <a:effectLst/>
              </a:rPr>
              <a:t>Feature Engineering</a:t>
            </a:r>
            <a:endParaRPr lang="en-US" sz="3200" b="0" i="0" u="none" strike="noStrike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Extracted 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</a:rPr>
              <a:t>year, month, day</a:t>
            </a:r>
            <a:endParaRPr lang="en-US" sz="3200" b="0" i="0" u="none" strike="noStrike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One-hot encoding for categorical features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Source from : Kaggle / </a:t>
            </a:r>
            <a:r>
              <a:rPr lang="en-US" sz="320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Layoffs.fyi</a:t>
            </a:r>
            <a:r>
              <a:rPr lang="en-US" sz="320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/Yahoo Finance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10"/>
          <p:cNvSpPr txBox="1"/>
          <p:nvPr/>
        </p:nvSpPr>
        <p:spPr>
          <a:xfrm>
            <a:off x="1023407" y="488692"/>
            <a:ext cx="9263593" cy="25839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799"/>
              </a:lnSpc>
            </a:pPr>
            <a:r>
              <a:rPr lang="en-US" sz="9999" b="1" spc="-150" dirty="0">
                <a:solidFill>
                  <a:srgbClr val="171717"/>
                </a:solidFill>
                <a:latin typeface="Agrandir Bold"/>
              </a:rPr>
              <a:t>Data Cleaning &amp; Alignment</a:t>
            </a:r>
            <a:endParaRPr lang="en-US" sz="9999" b="1" spc="-150" dirty="0">
              <a:solidFill>
                <a:srgbClr val="171717"/>
              </a:solidFill>
              <a:latin typeface="Agrandir Bold"/>
              <a:sym typeface="Agrandir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305818" y="3771900"/>
            <a:ext cx="13181581" cy="3528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00100" lvl="1" indent="-342900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Selected Only Relevant Columns</a:t>
            </a:r>
          </a:p>
          <a:p>
            <a:pPr marL="800100" lvl="1" indent="-342900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Converted All Date Columns to a Standard Datetime Format</a:t>
            </a:r>
          </a:p>
          <a:p>
            <a:pPr marL="800100" lvl="1" indent="-342900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Filtered All Datasets into the Same Time Range</a:t>
            </a:r>
          </a:p>
          <a:p>
            <a:pPr marL="800100" lvl="1" indent="-342900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Sorted All Datasets by Date</a:t>
            </a:r>
          </a:p>
          <a:p>
            <a:pPr marL="800100" lvl="1" indent="-342900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Standardized Column Names for Merging</a:t>
            </a:r>
          </a:p>
          <a:p>
            <a:pPr marL="800100" lvl="1" indent="-342900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Performed Left Joins to Merge All Datasets Together</a:t>
            </a:r>
            <a:endParaRPr lang="en-US" sz="4000" dirty="0">
              <a:solidFill>
                <a:srgbClr val="000000"/>
              </a:solidFill>
              <a:latin typeface="-webkit-standard"/>
            </a:endParaRPr>
          </a:p>
          <a:p>
            <a:pPr marL="800100" lvl="1" indent="-342900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Removed Rows With Missing Key Values</a:t>
            </a:r>
          </a:p>
          <a:p>
            <a:pPr marL="800100" lvl="1" indent="-342900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Created Features From Raw Data(</a:t>
            </a:r>
            <a:r>
              <a:rPr lang="en-US" sz="4000" b="0" i="0" u="none" strike="noStrike" dirty="0" err="1">
                <a:solidFill>
                  <a:srgbClr val="000000"/>
                </a:solidFill>
                <a:effectLst/>
                <a:latin typeface="-webkit-standard"/>
              </a:rPr>
              <a:t>ex:Layoff</a:t>
            </a: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Index)</a:t>
            </a:r>
            <a:endParaRPr lang="en-US" sz="4000" dirty="0">
              <a:solidFill>
                <a:srgbClr val="171717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  <p:sp>
        <p:nvSpPr>
          <p:cNvPr id="13" name="Freeform 13"/>
          <p:cNvSpPr/>
          <p:nvPr/>
        </p:nvSpPr>
        <p:spPr>
          <a:xfrm>
            <a:off x="12209166" y="5511920"/>
            <a:ext cx="5745307" cy="4271707"/>
          </a:xfrm>
          <a:custGeom>
            <a:avLst/>
            <a:gdLst/>
            <a:ahLst/>
            <a:cxnLst/>
            <a:rect l="l" t="t" r="r" b="b"/>
            <a:pathLst>
              <a:path w="8391908" h="6112139">
                <a:moveTo>
                  <a:pt x="0" y="0"/>
                </a:moveTo>
                <a:lnTo>
                  <a:pt x="8391908" y="0"/>
                </a:lnTo>
                <a:lnTo>
                  <a:pt x="8391908" y="6112140"/>
                </a:lnTo>
                <a:lnTo>
                  <a:pt x="0" y="611214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  <p:sp>
        <p:nvSpPr>
          <p:cNvPr id="14" name="Freeform 11">
            <a:extLst>
              <a:ext uri="{FF2B5EF4-FFF2-40B4-BE49-F238E27FC236}">
                <a16:creationId xmlns:a16="http://schemas.microsoft.com/office/drawing/2014/main" id="{75A4F3F5-241F-E85A-222F-51C4CC73FFB6}"/>
              </a:ext>
            </a:extLst>
          </p:cNvPr>
          <p:cNvSpPr/>
          <p:nvPr/>
        </p:nvSpPr>
        <p:spPr>
          <a:xfrm rot="16847185">
            <a:off x="14058424" y="2798376"/>
            <a:ext cx="2950826" cy="2961595"/>
          </a:xfrm>
          <a:custGeom>
            <a:avLst/>
            <a:gdLst/>
            <a:ahLst/>
            <a:cxnLst/>
            <a:rect l="l" t="t" r="r" b="b"/>
            <a:pathLst>
              <a:path w="2950826" h="2961595">
                <a:moveTo>
                  <a:pt x="0" y="0"/>
                </a:moveTo>
                <a:lnTo>
                  <a:pt x="2950826" y="0"/>
                </a:lnTo>
                <a:lnTo>
                  <a:pt x="2950826" y="2961595"/>
                </a:lnTo>
                <a:lnTo>
                  <a:pt x="0" y="296159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89678" y="3643516"/>
            <a:ext cx="7371463" cy="6158994"/>
          </a:xfrm>
          <a:custGeom>
            <a:avLst/>
            <a:gdLst/>
            <a:ahLst/>
            <a:cxnLst/>
            <a:rect l="l" t="t" r="r" b="b"/>
            <a:pathLst>
              <a:path w="7371463" h="6158994">
                <a:moveTo>
                  <a:pt x="0" y="0"/>
                </a:moveTo>
                <a:lnTo>
                  <a:pt x="7371463" y="0"/>
                </a:lnTo>
                <a:lnTo>
                  <a:pt x="7371463" y="6158993"/>
                </a:lnTo>
                <a:lnTo>
                  <a:pt x="0" y="61589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  <p:sp>
        <p:nvSpPr>
          <p:cNvPr id="8" name="TextBox 8"/>
          <p:cNvSpPr txBox="1"/>
          <p:nvPr/>
        </p:nvSpPr>
        <p:spPr>
          <a:xfrm>
            <a:off x="8001000" y="2308268"/>
            <a:ext cx="8689280" cy="461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 algn="just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000000"/>
                </a:solidFill>
                <a:latin typeface="+mj-lt"/>
              </a:rPr>
              <a:t>D</a:t>
            </a:r>
            <a:r>
              <a:rPr lang="en-US" sz="3600" b="0" i="0" u="none" strike="noStrike" dirty="0">
                <a:solidFill>
                  <a:srgbClr val="000000"/>
                </a:solidFill>
                <a:effectLst/>
                <a:latin typeface="+mj-lt"/>
              </a:rPr>
              <a:t>efines a </a:t>
            </a:r>
            <a:r>
              <a:rPr lang="en-US" sz="3600" b="0" i="1" u="none" strike="noStrike" dirty="0">
                <a:solidFill>
                  <a:srgbClr val="000000"/>
                </a:solidFill>
                <a:effectLst/>
                <a:latin typeface="+mj-lt"/>
              </a:rPr>
              <a:t>binary target</a:t>
            </a:r>
            <a:r>
              <a:rPr lang="en-US" sz="3600" b="0" i="0" u="none" strike="noStrike" dirty="0">
                <a:solidFill>
                  <a:srgbClr val="000000"/>
                </a:solidFill>
                <a:effectLst/>
                <a:latin typeface="+mj-lt"/>
              </a:rPr>
              <a:t> </a:t>
            </a:r>
            <a:r>
              <a:rPr lang="en-US" sz="3600" dirty="0">
                <a:solidFill>
                  <a:srgbClr val="000000"/>
                </a:solidFill>
                <a:latin typeface="+mj-lt"/>
              </a:rPr>
              <a:t>:</a:t>
            </a:r>
            <a:r>
              <a:rPr lang="en-US" sz="3600" b="0" i="0" u="none" strike="noStrike" dirty="0">
                <a:solidFill>
                  <a:srgbClr val="000000"/>
                </a:solidFill>
                <a:effectLst/>
                <a:latin typeface="+mj-lt"/>
              </a:rPr>
              <a:t> </a:t>
            </a:r>
            <a:endParaRPr lang="en-US" sz="3600" dirty="0">
              <a:solidFill>
                <a:srgbClr val="171717"/>
              </a:solidFill>
              <a:latin typeface="+mj-lt"/>
              <a:ea typeface="Agrandir"/>
              <a:cs typeface="Agrandir"/>
              <a:sym typeface="Agrandir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9678" y="484490"/>
            <a:ext cx="11907419" cy="13272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9799"/>
              </a:lnSpc>
            </a:pPr>
            <a:r>
              <a:rPr lang="en-US" sz="9999" b="1" spc="-649" dirty="0">
                <a:solidFill>
                  <a:srgbClr val="171717"/>
                </a:solidFill>
                <a:latin typeface="Agrandir Bold"/>
                <a:ea typeface="Agrandir Bold"/>
                <a:cs typeface="Agrandir Bold"/>
                <a:sym typeface="Agrandir Bold"/>
              </a:rPr>
              <a:t> </a:t>
            </a:r>
            <a:r>
              <a:rPr lang="en-US" sz="6000" b="1" spc="-150" dirty="0">
                <a:solidFill>
                  <a:srgbClr val="171717"/>
                </a:solidFill>
                <a:latin typeface="Agrandir Bold"/>
              </a:rPr>
              <a:t>MODEL TRAINING &amp; Evaluation</a:t>
            </a:r>
            <a:endParaRPr lang="en-US" sz="6000" b="1" spc="-150" dirty="0">
              <a:solidFill>
                <a:srgbClr val="171717"/>
              </a:solidFill>
              <a:latin typeface="Agrandir Bold"/>
              <a:sym typeface="Agrandir Bold"/>
            </a:endParaRPr>
          </a:p>
        </p:txBody>
      </p:sp>
      <p:sp>
        <p:nvSpPr>
          <p:cNvPr id="10" name="Freeform 10"/>
          <p:cNvSpPr/>
          <p:nvPr/>
        </p:nvSpPr>
        <p:spPr>
          <a:xfrm rot="4128628">
            <a:off x="14154562" y="7326204"/>
            <a:ext cx="2950826" cy="2961595"/>
          </a:xfrm>
          <a:custGeom>
            <a:avLst/>
            <a:gdLst/>
            <a:ahLst/>
            <a:cxnLst/>
            <a:rect l="l" t="t" r="r" b="b"/>
            <a:pathLst>
              <a:path w="2950826" h="2961595">
                <a:moveTo>
                  <a:pt x="0" y="0"/>
                </a:moveTo>
                <a:lnTo>
                  <a:pt x="2950825" y="0"/>
                </a:lnTo>
                <a:lnTo>
                  <a:pt x="2950825" y="2961595"/>
                </a:lnTo>
                <a:lnTo>
                  <a:pt x="0" y="296159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E667DE6-3177-81EC-A9CB-F11B029E64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5918013"/>
              </p:ext>
            </p:extLst>
          </p:nvPr>
        </p:nvGraphicFramePr>
        <p:xfrm>
          <a:off x="8000999" y="2973116"/>
          <a:ext cx="8689280" cy="4151584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2819401">
                  <a:extLst>
                    <a:ext uri="{9D8B030D-6E8A-4147-A177-3AD203B41FA5}">
                      <a16:colId xmlns:a16="http://schemas.microsoft.com/office/drawing/2014/main" val="481164039"/>
                    </a:ext>
                  </a:extLst>
                </a:gridCol>
                <a:gridCol w="5869879">
                  <a:extLst>
                    <a:ext uri="{9D8B030D-6E8A-4147-A177-3AD203B41FA5}">
                      <a16:colId xmlns:a16="http://schemas.microsoft.com/office/drawing/2014/main" val="658910173"/>
                    </a:ext>
                  </a:extLst>
                </a:gridCol>
              </a:tblGrid>
              <a:tr h="7343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u="none" strike="noStrike" dirty="0">
                          <a:effectLst/>
                        </a:rPr>
                        <a:t>Column</a:t>
                      </a:r>
                      <a:endParaRPr lang="en-US" sz="28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u="none" strike="noStrike">
                          <a:effectLst/>
                        </a:rPr>
                        <a:t>Meaning</a:t>
                      </a:r>
                      <a:endParaRPr lang="en-US" sz="2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244369"/>
                  </a:ext>
                </a:extLst>
              </a:tr>
              <a:tr h="974219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u="none" strike="noStrike" dirty="0">
                          <a:effectLst/>
                        </a:rPr>
                        <a:t>SP5_Up = 1</a:t>
                      </a:r>
                      <a:endParaRPr lang="en-US" sz="28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u="none" strike="noStrike" dirty="0">
                          <a:effectLst/>
                        </a:rPr>
                        <a:t>S&amp;P 500 moved UP from previous day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4216663"/>
                  </a:ext>
                </a:extLst>
              </a:tr>
              <a:tr h="7343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u="none" strike="noStrike" dirty="0">
                          <a:effectLst/>
                        </a:rPr>
                        <a:t>SP5_Up = 0</a:t>
                      </a:r>
                      <a:endParaRPr lang="en-US" sz="28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u="none" strike="noStrike" dirty="0">
                          <a:effectLst/>
                        </a:rPr>
                        <a:t>S&amp;P 500 moved DOWN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0453248"/>
                  </a:ext>
                </a:extLst>
              </a:tr>
              <a:tr h="734382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u="none" strike="noStrike">
                          <a:effectLst/>
                        </a:rPr>
                        <a:t>DJ_Up = 1</a:t>
                      </a:r>
                      <a:endParaRPr lang="en-US" sz="2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u="none" strike="noStrike" dirty="0">
                          <a:effectLst/>
                        </a:rPr>
                        <a:t>Dow Jones moved UP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4129849"/>
                  </a:ext>
                </a:extLst>
              </a:tr>
              <a:tr h="974219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u="none" strike="noStrike">
                          <a:effectLst/>
                        </a:rPr>
                        <a:t>VIX_Up = 1</a:t>
                      </a:r>
                      <a:endParaRPr lang="en-US" sz="28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u="none" strike="noStrike" dirty="0">
                          <a:effectLst/>
                        </a:rPr>
                        <a:t>VIX Fear Index increased (higher fear)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93207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7"/>
          <p:cNvSpPr txBox="1"/>
          <p:nvPr/>
        </p:nvSpPr>
        <p:spPr>
          <a:xfrm>
            <a:off x="8969090" y="2998852"/>
            <a:ext cx="8980225" cy="65531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3600" b="1" i="0" u="none" strike="noStrike" dirty="0">
                <a:solidFill>
                  <a:srgbClr val="000000"/>
                </a:solidFill>
                <a:effectLst/>
              </a:rPr>
              <a:t>Decision Tree Classifier:</a:t>
            </a:r>
            <a:br>
              <a:rPr lang="en-US" sz="3600" dirty="0"/>
            </a:br>
            <a:r>
              <a:rPr lang="en-US" sz="36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A decision tree is chosen because it naturally handles </a:t>
            </a:r>
            <a:r>
              <a:rPr lang="en-US" sz="3600" b="1" i="0" u="none" strike="noStrike" dirty="0">
                <a:solidFill>
                  <a:srgbClr val="000000"/>
                </a:solidFill>
                <a:effectLst/>
              </a:rPr>
              <a:t>mixed feature types</a:t>
            </a:r>
            <a:r>
              <a:rPr lang="en-US" sz="36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 (numeric fields, and categorical fields)</a:t>
            </a:r>
          </a:p>
          <a:p>
            <a:pPr marL="571500" indent="-571500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3600" dirty="0">
              <a:solidFill>
                <a:srgbClr val="000000"/>
              </a:solidFill>
              <a:latin typeface="-webkit-standard"/>
            </a:endParaRPr>
          </a:p>
          <a:p>
            <a:pPr marL="571500" indent="-571500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36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Split train and test sets: 80% training 20% testing</a:t>
            </a:r>
          </a:p>
          <a:p>
            <a:pPr>
              <a:lnSpc>
                <a:spcPts val="3360"/>
              </a:lnSpc>
              <a:spcBef>
                <a:spcPct val="0"/>
              </a:spcBef>
            </a:pPr>
            <a:endParaRPr lang="en-US" sz="3600" b="0" i="0" u="none" strike="noStrike" dirty="0">
              <a:solidFill>
                <a:srgbClr val="000000"/>
              </a:solidFill>
              <a:effectLst/>
              <a:latin typeface="-webkit-standard"/>
            </a:endParaRPr>
          </a:p>
          <a:p>
            <a:pPr marL="571500" indent="-571500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rgbClr val="000000"/>
                </a:solidFill>
                <a:sym typeface="Agrandir"/>
              </a:rPr>
              <a:t>Using </a:t>
            </a:r>
            <a:r>
              <a:rPr lang="en-US" sz="3600" b="1" dirty="0" err="1">
                <a:solidFill>
                  <a:srgbClr val="000000"/>
                </a:solidFill>
                <a:sym typeface="Agrandir"/>
              </a:rPr>
              <a:t>Layoff_Index</a:t>
            </a:r>
            <a:r>
              <a:rPr lang="en-US" sz="3600" b="1" dirty="0">
                <a:solidFill>
                  <a:srgbClr val="000000"/>
                </a:solidFill>
                <a:sym typeface="Agrandir"/>
              </a:rPr>
              <a:t> to predict </a:t>
            </a:r>
            <a:r>
              <a:rPr lang="en-US" sz="3600" b="1" dirty="0">
                <a:solidFill>
                  <a:srgbClr val="000000"/>
                </a:solidFill>
                <a:sym typeface="Agrandir Bold"/>
              </a:rPr>
              <a:t>Economic Index  (daily)</a:t>
            </a:r>
          </a:p>
          <a:p>
            <a:pPr marL="571500" indent="-571500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3600" b="1" dirty="0">
              <a:solidFill>
                <a:srgbClr val="000000"/>
              </a:solidFill>
              <a:sym typeface="Agrandir Bold"/>
            </a:endParaRPr>
          </a:p>
          <a:p>
            <a:pPr marL="571500" indent="-571500">
              <a:lnSpc>
                <a:spcPts val="336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000000"/>
                </a:solidFill>
                <a:sym typeface="Agrandir Bold"/>
              </a:rPr>
              <a:t>Check which </a:t>
            </a:r>
            <a:r>
              <a:rPr lang="en-US" sz="3600" b="1" dirty="0">
                <a:solidFill>
                  <a:srgbClr val="000000"/>
                </a:solidFill>
                <a:sym typeface="Agrandir Bold"/>
              </a:rPr>
              <a:t>Economic Index  (daily) to pick up one index</a:t>
            </a:r>
            <a:r>
              <a:rPr lang="en-US" sz="3600" dirty="0">
                <a:solidFill>
                  <a:srgbClr val="000000"/>
                </a:solidFill>
                <a:sym typeface="Agrandir Bold"/>
              </a:rPr>
              <a:t> to run </a:t>
            </a:r>
            <a:r>
              <a:rPr lang="en-US" sz="3600" b="1" dirty="0" err="1"/>
              <a:t>RandomForest</a:t>
            </a:r>
            <a:r>
              <a:rPr lang="en-US" sz="3600" b="1" dirty="0">
                <a:solidFill>
                  <a:srgbClr val="000000"/>
                </a:solidFill>
                <a:sym typeface="Agrandir Bold"/>
              </a:rPr>
              <a:t>, </a:t>
            </a:r>
            <a:r>
              <a:rPr lang="en-US" sz="3600" b="1" dirty="0" err="1"/>
              <a:t>XGBoost</a:t>
            </a:r>
            <a:r>
              <a:rPr lang="en-US" sz="3600" b="1" dirty="0">
                <a:solidFill>
                  <a:srgbClr val="000000"/>
                </a:solidFill>
                <a:sym typeface="Agrandir Bold"/>
              </a:rPr>
              <a:t> to pick up </a:t>
            </a:r>
            <a:r>
              <a:rPr lang="en-US" sz="3600" b="1" dirty="0">
                <a:solidFill>
                  <a:srgbClr val="FF0000"/>
                </a:solidFill>
                <a:sym typeface="Agrandir Bold"/>
              </a:rPr>
              <a:t>best </a:t>
            </a:r>
            <a:r>
              <a:rPr lang="en-US" sz="3600" b="1" dirty="0">
                <a:solidFill>
                  <a:srgbClr val="FF0000"/>
                </a:solidFill>
              </a:rPr>
              <a:t>Model</a:t>
            </a:r>
            <a:endParaRPr lang="en-US" sz="3600" b="1" i="0" u="none" strike="noStrike" dirty="0">
              <a:solidFill>
                <a:srgbClr val="FF0000"/>
              </a:solidFill>
              <a:effectLst/>
              <a:latin typeface="-webkit-standard"/>
            </a:endParaRPr>
          </a:p>
          <a:p>
            <a:pPr>
              <a:lnSpc>
                <a:spcPts val="3360"/>
              </a:lnSpc>
              <a:spcBef>
                <a:spcPct val="0"/>
              </a:spcBef>
            </a:pPr>
            <a:endParaRPr lang="en-US" sz="3600" b="0" i="0" u="none" strike="noStrike" dirty="0">
              <a:solidFill>
                <a:srgbClr val="000000"/>
              </a:solidFill>
              <a:effectLst/>
              <a:latin typeface="-webkit-standar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609600" y="199839"/>
            <a:ext cx="8077200" cy="36869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799"/>
              </a:lnSpc>
            </a:pPr>
            <a:r>
              <a:rPr lang="en-US" sz="6000" b="1" spc="-150" dirty="0">
                <a:solidFill>
                  <a:srgbClr val="171717"/>
                </a:solidFill>
                <a:latin typeface="Agrandir Bold"/>
              </a:rPr>
              <a:t>Train a Decision Tree/ </a:t>
            </a:r>
            <a:r>
              <a:rPr lang="en-US" sz="6000" b="1" spc="-150" dirty="0" err="1">
                <a:solidFill>
                  <a:srgbClr val="171717"/>
                </a:solidFill>
                <a:latin typeface="Agrandir Bold"/>
              </a:rPr>
              <a:t>RandomForest</a:t>
            </a:r>
            <a:r>
              <a:rPr lang="en-US" sz="6000" b="1" spc="-150" dirty="0">
                <a:solidFill>
                  <a:srgbClr val="171717"/>
                </a:solidFill>
                <a:latin typeface="Agrandir Bold"/>
              </a:rPr>
              <a:t>/ </a:t>
            </a:r>
            <a:r>
              <a:rPr lang="en-US" sz="6000" b="1" spc="-150" dirty="0" err="1">
                <a:solidFill>
                  <a:srgbClr val="171717"/>
                </a:solidFill>
                <a:latin typeface="Agrandir Bold"/>
              </a:rPr>
              <a:t>XGBoost</a:t>
            </a:r>
            <a:r>
              <a:rPr lang="en-US" sz="6000" b="1" spc="-150" dirty="0">
                <a:solidFill>
                  <a:srgbClr val="171717"/>
                </a:solidFill>
                <a:latin typeface="Agrandir Bold"/>
              </a:rPr>
              <a:t> Model</a:t>
            </a:r>
            <a:endParaRPr lang="en-US" sz="6000" b="1" spc="-150" dirty="0">
              <a:solidFill>
                <a:srgbClr val="171717"/>
              </a:solidFill>
              <a:latin typeface="Agrandir Bold"/>
              <a:sym typeface="Agrandir Bold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367145" y="5676900"/>
            <a:ext cx="7100455" cy="4311109"/>
          </a:xfrm>
          <a:custGeom>
            <a:avLst/>
            <a:gdLst/>
            <a:ahLst/>
            <a:cxnLst/>
            <a:rect l="l" t="t" r="r" b="b"/>
            <a:pathLst>
              <a:path w="11733517" h="7527379">
                <a:moveTo>
                  <a:pt x="0" y="0"/>
                </a:moveTo>
                <a:lnTo>
                  <a:pt x="11733518" y="0"/>
                </a:lnTo>
                <a:lnTo>
                  <a:pt x="11733518" y="7527379"/>
                </a:lnTo>
                <a:lnTo>
                  <a:pt x="0" y="75273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  <p:sp>
        <p:nvSpPr>
          <p:cNvPr id="2" name="Freeform 10">
            <a:extLst>
              <a:ext uri="{FF2B5EF4-FFF2-40B4-BE49-F238E27FC236}">
                <a16:creationId xmlns:a16="http://schemas.microsoft.com/office/drawing/2014/main" id="{6543875F-49D4-5FD3-24EA-E4F2CF6D16AA}"/>
              </a:ext>
            </a:extLst>
          </p:cNvPr>
          <p:cNvSpPr/>
          <p:nvPr/>
        </p:nvSpPr>
        <p:spPr>
          <a:xfrm rot="4128628">
            <a:off x="10695606" y="367658"/>
            <a:ext cx="2655803" cy="2368391"/>
          </a:xfrm>
          <a:custGeom>
            <a:avLst/>
            <a:gdLst/>
            <a:ahLst/>
            <a:cxnLst/>
            <a:rect l="l" t="t" r="r" b="b"/>
            <a:pathLst>
              <a:path w="2950826" h="2961595">
                <a:moveTo>
                  <a:pt x="0" y="0"/>
                </a:moveTo>
                <a:lnTo>
                  <a:pt x="2950825" y="0"/>
                </a:lnTo>
                <a:lnTo>
                  <a:pt x="2950825" y="2961595"/>
                </a:lnTo>
                <a:lnTo>
                  <a:pt x="0" y="296159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952B121C-9A9F-19F6-587C-E2C7DFC40D3C}"/>
              </a:ext>
            </a:extLst>
          </p:cNvPr>
          <p:cNvSpPr/>
          <p:nvPr/>
        </p:nvSpPr>
        <p:spPr>
          <a:xfrm>
            <a:off x="9144000" y="4000500"/>
            <a:ext cx="7752180" cy="4844509"/>
          </a:xfrm>
          <a:custGeom>
            <a:avLst/>
            <a:gdLst/>
            <a:ahLst/>
            <a:cxnLst/>
            <a:rect l="l" t="t" r="r" b="b"/>
            <a:pathLst>
              <a:path w="11733517" h="7527379">
                <a:moveTo>
                  <a:pt x="0" y="0"/>
                </a:moveTo>
                <a:lnTo>
                  <a:pt x="11733518" y="0"/>
                </a:lnTo>
                <a:lnTo>
                  <a:pt x="11733518" y="7527379"/>
                </a:lnTo>
                <a:lnTo>
                  <a:pt x="0" y="75273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  <p:sp>
        <p:nvSpPr>
          <p:cNvPr id="3" name="Freeform 10">
            <a:extLst>
              <a:ext uri="{FF2B5EF4-FFF2-40B4-BE49-F238E27FC236}">
                <a16:creationId xmlns:a16="http://schemas.microsoft.com/office/drawing/2014/main" id="{D20AD2C2-D464-D764-727E-D6BF88A047DB}"/>
              </a:ext>
            </a:extLst>
          </p:cNvPr>
          <p:cNvSpPr/>
          <p:nvPr/>
        </p:nvSpPr>
        <p:spPr>
          <a:xfrm rot="4128628">
            <a:off x="5467762" y="5711031"/>
            <a:ext cx="2950826" cy="2961595"/>
          </a:xfrm>
          <a:custGeom>
            <a:avLst/>
            <a:gdLst/>
            <a:ahLst/>
            <a:cxnLst/>
            <a:rect l="l" t="t" r="r" b="b"/>
            <a:pathLst>
              <a:path w="2950826" h="2961595">
                <a:moveTo>
                  <a:pt x="0" y="0"/>
                </a:moveTo>
                <a:lnTo>
                  <a:pt x="2950825" y="0"/>
                </a:lnTo>
                <a:lnTo>
                  <a:pt x="2950825" y="2961595"/>
                </a:lnTo>
                <a:lnTo>
                  <a:pt x="0" y="296159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F40AB484-838A-2034-D8F7-7B1419F791CF}"/>
              </a:ext>
            </a:extLst>
          </p:cNvPr>
          <p:cNvSpPr txBox="1"/>
          <p:nvPr/>
        </p:nvSpPr>
        <p:spPr>
          <a:xfrm>
            <a:off x="2057400" y="3953704"/>
            <a:ext cx="10135735" cy="1327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9799"/>
              </a:lnSpc>
            </a:pPr>
            <a:r>
              <a:rPr lang="en-US" sz="9999" b="1" spc="-150" dirty="0">
                <a:solidFill>
                  <a:srgbClr val="171717"/>
                </a:solidFill>
                <a:latin typeface="Agrandir Bold"/>
                <a:ea typeface="Agrandir Bold"/>
                <a:cs typeface="Agrandir Bold"/>
                <a:sym typeface="Agrandir Bold"/>
              </a:rPr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91810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8">
            <a:extLst>
              <a:ext uri="{FF2B5EF4-FFF2-40B4-BE49-F238E27FC236}">
                <a16:creationId xmlns:a16="http://schemas.microsoft.com/office/drawing/2014/main" id="{4D57C1C4-EE9E-1A0B-BFAB-AD244FB19D7D}"/>
              </a:ext>
            </a:extLst>
          </p:cNvPr>
          <p:cNvSpPr txBox="1"/>
          <p:nvPr/>
        </p:nvSpPr>
        <p:spPr>
          <a:xfrm>
            <a:off x="408709" y="342900"/>
            <a:ext cx="17879291" cy="24763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799"/>
              </a:lnSpc>
            </a:pPr>
            <a:r>
              <a:rPr lang="en-US" sz="7200" b="1" spc="-150" dirty="0">
                <a:solidFill>
                  <a:srgbClr val="171717"/>
                </a:solidFill>
                <a:latin typeface="Agrandir Bold"/>
              </a:rPr>
              <a:t>Accuracy: </a:t>
            </a:r>
            <a:br>
              <a:rPr lang="en-US" sz="7200" b="1" spc="-150" dirty="0">
                <a:solidFill>
                  <a:srgbClr val="171717"/>
                </a:solidFill>
                <a:latin typeface="Agrandir Bold"/>
              </a:rPr>
            </a:br>
            <a:r>
              <a:rPr lang="en-US" sz="7200" b="1" spc="-150" dirty="0">
                <a:solidFill>
                  <a:srgbClr val="171717"/>
                </a:solidFill>
                <a:latin typeface="Agrandir Bold"/>
              </a:rPr>
              <a:t>Dow Jones Industrial Average increased</a:t>
            </a:r>
            <a:endParaRPr lang="en-US" sz="7200" b="1" spc="-150" dirty="0">
              <a:solidFill>
                <a:srgbClr val="171717"/>
              </a:solidFill>
              <a:latin typeface="Agrandir Bold"/>
              <a:sym typeface="Agrandir Bold"/>
            </a:endParaRPr>
          </a:p>
        </p:txBody>
      </p:sp>
      <p:sp>
        <p:nvSpPr>
          <p:cNvPr id="3" name="Freeform 15">
            <a:extLst>
              <a:ext uri="{FF2B5EF4-FFF2-40B4-BE49-F238E27FC236}">
                <a16:creationId xmlns:a16="http://schemas.microsoft.com/office/drawing/2014/main" id="{C9484213-A31D-D05A-08C9-2DD3FE918496}"/>
              </a:ext>
            </a:extLst>
          </p:cNvPr>
          <p:cNvSpPr/>
          <p:nvPr/>
        </p:nvSpPr>
        <p:spPr>
          <a:xfrm rot="1971934">
            <a:off x="14154289" y="7122562"/>
            <a:ext cx="3251301" cy="2480775"/>
          </a:xfrm>
          <a:custGeom>
            <a:avLst/>
            <a:gdLst/>
            <a:ahLst/>
            <a:cxnLst/>
            <a:rect l="l" t="t" r="r" b="b"/>
            <a:pathLst>
              <a:path w="2950826" h="2961595">
                <a:moveTo>
                  <a:pt x="0" y="0"/>
                </a:moveTo>
                <a:lnTo>
                  <a:pt x="2950826" y="0"/>
                </a:lnTo>
                <a:lnTo>
                  <a:pt x="2950826" y="2961595"/>
                </a:lnTo>
                <a:lnTo>
                  <a:pt x="0" y="29615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FB2311-6E68-5F8F-2FB6-3E82DE390034}"/>
              </a:ext>
            </a:extLst>
          </p:cNvPr>
          <p:cNvSpPr txBox="1"/>
          <p:nvPr/>
        </p:nvSpPr>
        <p:spPr>
          <a:xfrm>
            <a:off x="408709" y="3059399"/>
            <a:ext cx="1292629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-webkit-standard"/>
                <a:ea typeface="Agrandir"/>
                <a:cs typeface="Agrandir"/>
                <a:sym typeface="Agrandir"/>
              </a:rPr>
              <a:t>Using </a:t>
            </a:r>
            <a:r>
              <a:rPr lang="en-US" sz="3200" b="1" dirty="0" err="1">
                <a:solidFill>
                  <a:srgbClr val="000000"/>
                </a:solidFill>
                <a:latin typeface="-webkit-standard"/>
                <a:ea typeface="Agrandir"/>
                <a:cs typeface="Agrandir"/>
                <a:sym typeface="Agrandir"/>
              </a:rPr>
              <a:t>Layoff_Index</a:t>
            </a:r>
            <a:r>
              <a:rPr lang="en-US" sz="3200" b="1" dirty="0">
                <a:solidFill>
                  <a:srgbClr val="000000"/>
                </a:solidFill>
                <a:latin typeface="-webkit-standard"/>
                <a:ea typeface="Agrandir"/>
                <a:cs typeface="Agrandir"/>
                <a:sym typeface="Agrandir"/>
              </a:rPr>
              <a:t> </a:t>
            </a:r>
            <a:r>
              <a:rPr lang="en-US" sz="3200" dirty="0">
                <a:solidFill>
                  <a:srgbClr val="000000"/>
                </a:solidFill>
                <a:latin typeface="-webkit-standard"/>
                <a:ea typeface="Agrandir"/>
                <a:cs typeface="Agrandir"/>
                <a:sym typeface="Agrandir"/>
              </a:rPr>
              <a:t>to predict</a:t>
            </a:r>
            <a:r>
              <a:rPr lang="en-US" sz="3200" b="1" dirty="0">
                <a:solidFill>
                  <a:srgbClr val="000000"/>
                </a:solidFill>
                <a:latin typeface="-webkit-standard"/>
                <a:ea typeface="Agrandir"/>
                <a:cs typeface="Agrandir"/>
                <a:sym typeface="Agrandir"/>
              </a:rPr>
              <a:t> </a:t>
            </a:r>
            <a:r>
              <a:rPr lang="en-US" sz="3200" b="1" spc="-150" dirty="0">
                <a:solidFill>
                  <a:srgbClr val="171717"/>
                </a:solidFill>
                <a:latin typeface="Agrandir Bold"/>
              </a:rPr>
              <a:t>Dow Jones Industrial Average increased (</a:t>
            </a:r>
            <a:r>
              <a:rPr lang="en-US" sz="3200" i="1" dirty="0" err="1">
                <a:solidFill>
                  <a:srgbClr val="000000"/>
                </a:solidFill>
              </a:rPr>
              <a:t>DJ</a:t>
            </a:r>
            <a:r>
              <a:rPr lang="en-US" sz="3200" b="0" i="1" u="none" strike="noStrike" dirty="0" err="1">
                <a:solidFill>
                  <a:srgbClr val="000000"/>
                </a:solidFill>
                <a:effectLst/>
              </a:rPr>
              <a:t>_Up</a:t>
            </a:r>
            <a:r>
              <a:rPr lang="en-US" sz="3200" b="0" i="1" u="none" strike="noStrike" dirty="0">
                <a:solidFill>
                  <a:srgbClr val="000000"/>
                </a:solidFill>
                <a:effectLst/>
              </a:rPr>
              <a:t> </a:t>
            </a:r>
            <a:r>
              <a:rPr lang="en-US" sz="3200" b="1" spc="-150" dirty="0">
                <a:solidFill>
                  <a:srgbClr val="171717"/>
                </a:solidFill>
                <a:latin typeface="Agrandir Bold"/>
              </a:rPr>
              <a:t>)</a:t>
            </a:r>
            <a:endParaRPr lang="en-US" sz="3200" b="1" dirty="0">
              <a:solidFill>
                <a:srgbClr val="000000"/>
              </a:solidFill>
              <a:latin typeface="-webkit-standard"/>
              <a:ea typeface="Agrandir"/>
              <a:cs typeface="Agrandir"/>
              <a:sym typeface="Agrandir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0" i="1" u="none" strike="noStrike" dirty="0">
                <a:solidFill>
                  <a:srgbClr val="000000"/>
                </a:solidFill>
                <a:effectLst/>
              </a:rPr>
              <a:t>Accuracy for </a:t>
            </a:r>
            <a:r>
              <a:rPr lang="en-US" sz="3200" i="1" dirty="0" err="1">
                <a:solidFill>
                  <a:srgbClr val="000000"/>
                </a:solidFill>
              </a:rPr>
              <a:t>DJ</a:t>
            </a:r>
            <a:r>
              <a:rPr lang="en-US" sz="3200" b="0" i="1" u="none" strike="noStrike" dirty="0" err="1">
                <a:solidFill>
                  <a:srgbClr val="000000"/>
                </a:solidFill>
                <a:effectLst/>
              </a:rPr>
              <a:t>_Up</a:t>
            </a:r>
            <a:r>
              <a:rPr lang="en-US" sz="3200" b="0" i="1" u="none" strike="noStrike" dirty="0">
                <a:solidFill>
                  <a:srgbClr val="000000"/>
                </a:solidFill>
                <a:effectLst/>
              </a:rPr>
              <a:t> (</a:t>
            </a:r>
            <a:r>
              <a:rPr lang="en-US" sz="3200" b="1" spc="-150" dirty="0">
                <a:solidFill>
                  <a:srgbClr val="171717"/>
                </a:solidFill>
                <a:latin typeface="Agrandir Bold"/>
              </a:rPr>
              <a:t>VIX index increased </a:t>
            </a:r>
            <a:r>
              <a:rPr lang="en-US" sz="3200" b="1" spc="-150" dirty="0">
                <a:solidFill>
                  <a:srgbClr val="171717"/>
                </a:solidFill>
                <a:latin typeface="Agrandir Bold"/>
                <a:sym typeface="Agrandir Bold"/>
              </a:rPr>
              <a:t> </a:t>
            </a:r>
            <a:r>
              <a:rPr lang="en-US" sz="3200" b="0" i="1" u="none" strike="noStrike" dirty="0">
                <a:solidFill>
                  <a:srgbClr val="000000"/>
                </a:solidFill>
                <a:effectLst/>
              </a:rPr>
              <a:t>):</a:t>
            </a:r>
            <a:r>
              <a:rPr lang="en-TW" sz="3200" dirty="0"/>
              <a:t> 0.8698</a:t>
            </a:r>
            <a:r>
              <a:rPr lang="en-US" sz="3200" b="0" i="1" u="none" strike="noStrike" dirty="0">
                <a:solidFill>
                  <a:srgbClr val="000000"/>
                </a:solidFill>
                <a:effectLst/>
              </a:rPr>
              <a:t>, 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</a:rPr>
              <a:t>86.98% accuracy</a:t>
            </a:r>
            <a:endParaRPr lang="en-TW" sz="3200" dirty="0"/>
          </a:p>
        </p:txBody>
      </p:sp>
      <p:pic>
        <p:nvPicPr>
          <p:cNvPr id="8" name="Picture 7" descr="A graph with blue lines and dots&#10;&#10;Description automatically generated">
            <a:extLst>
              <a:ext uri="{FF2B5EF4-FFF2-40B4-BE49-F238E27FC236}">
                <a16:creationId xmlns:a16="http://schemas.microsoft.com/office/drawing/2014/main" id="{BBEA33B3-C648-B17B-44A1-F3F3C309C9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" y="4782647"/>
            <a:ext cx="10591800" cy="4957550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8B4666F2-6C54-31B4-AE24-4C70C5CA2B50}"/>
              </a:ext>
            </a:extLst>
          </p:cNvPr>
          <p:cNvSpPr/>
          <p:nvPr/>
        </p:nvSpPr>
        <p:spPr>
          <a:xfrm>
            <a:off x="4814455" y="4782647"/>
            <a:ext cx="2057400" cy="465166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9496A13-65AC-A0BA-4687-3CB6B34DE18D}"/>
              </a:ext>
            </a:extLst>
          </p:cNvPr>
          <p:cNvSpPr/>
          <p:nvPr/>
        </p:nvSpPr>
        <p:spPr>
          <a:xfrm>
            <a:off x="8115300" y="4838066"/>
            <a:ext cx="2057400" cy="465166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658638E-7CB9-5BD2-8EEF-DC146A4E0200}"/>
              </a:ext>
            </a:extLst>
          </p:cNvPr>
          <p:cNvSpPr/>
          <p:nvPr/>
        </p:nvSpPr>
        <p:spPr>
          <a:xfrm>
            <a:off x="11582400" y="5372100"/>
            <a:ext cx="6081795" cy="121956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i="0" u="none" strike="noStrike" dirty="0">
                <a:solidFill>
                  <a:srgbClr val="000000"/>
                </a:solidFill>
                <a:effectLst/>
              </a:rPr>
              <a:t>False Negatives (FN)</a:t>
            </a:r>
            <a:r>
              <a:rPr lang="en-US" sz="2800" b="0" i="0" u="none" strike="noStrike" dirty="0">
                <a:solidFill>
                  <a:srgbClr val="000000"/>
                </a:solidFill>
                <a:effectLst/>
              </a:rPr>
              <a:t> = predicted Down, actual Up</a:t>
            </a:r>
          </a:p>
          <a:p>
            <a:pPr algn="ctr"/>
            <a:endParaRPr lang="en-TW" sz="2800" dirty="0"/>
          </a:p>
        </p:txBody>
      </p:sp>
    </p:spTree>
    <p:extLst>
      <p:ext uri="{BB962C8B-B14F-4D97-AF65-F5344CB8AC3E}">
        <p14:creationId xmlns:p14="http://schemas.microsoft.com/office/powerpoint/2010/main" val="874406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8">
            <a:extLst>
              <a:ext uri="{FF2B5EF4-FFF2-40B4-BE49-F238E27FC236}">
                <a16:creationId xmlns:a16="http://schemas.microsoft.com/office/drawing/2014/main" id="{F78D8BFF-218E-1D77-5AF7-F5CB21356745}"/>
              </a:ext>
            </a:extLst>
          </p:cNvPr>
          <p:cNvSpPr txBox="1"/>
          <p:nvPr/>
        </p:nvSpPr>
        <p:spPr>
          <a:xfrm>
            <a:off x="561109" y="357322"/>
            <a:ext cx="16725901" cy="12114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799"/>
              </a:lnSpc>
            </a:pPr>
            <a:r>
              <a:rPr lang="en-US" sz="7200" b="1" spc="-150" dirty="0">
                <a:solidFill>
                  <a:srgbClr val="171717"/>
                </a:solidFill>
                <a:latin typeface="Agrandir Bold"/>
              </a:rPr>
              <a:t>Accuracy: </a:t>
            </a:r>
            <a:r>
              <a:rPr lang="en-US" sz="7200" b="1" i="0" u="none" strike="noStrike" dirty="0">
                <a:solidFill>
                  <a:srgbClr val="000000"/>
                </a:solidFill>
                <a:effectLst/>
              </a:rPr>
              <a:t>S&amp;P 500 index increased</a:t>
            </a:r>
            <a:r>
              <a:rPr lang="en-US" sz="72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 </a:t>
            </a:r>
            <a:r>
              <a:rPr lang="en-US" sz="7200" b="1" spc="-150" dirty="0">
                <a:solidFill>
                  <a:srgbClr val="171717"/>
                </a:solidFill>
                <a:latin typeface="Agrandir Bold"/>
                <a:sym typeface="Agrandir Bold"/>
              </a:rPr>
              <a:t> </a:t>
            </a:r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81FA53BB-F0A0-F7F8-D9A1-4D9346F539DC}"/>
              </a:ext>
            </a:extLst>
          </p:cNvPr>
          <p:cNvSpPr txBox="1"/>
          <p:nvPr/>
        </p:nvSpPr>
        <p:spPr>
          <a:xfrm>
            <a:off x="914400" y="1703258"/>
            <a:ext cx="17030701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The </a:t>
            </a:r>
            <a:r>
              <a:rPr lang="en-US" sz="4000" b="1" i="0" u="none" strike="noStrike" dirty="0">
                <a:solidFill>
                  <a:srgbClr val="000000"/>
                </a:solidFill>
                <a:effectLst/>
              </a:rPr>
              <a:t>S&amp;P 500 index increased</a:t>
            </a: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 compared to the previous day.)</a:t>
            </a:r>
          </a:p>
          <a:p>
            <a:pPr>
              <a:spcBef>
                <a:spcPct val="0"/>
              </a:spcBef>
            </a:pPr>
            <a:r>
              <a:rPr lang="en-US" sz="4000" dirty="0">
                <a:solidFill>
                  <a:srgbClr val="000000"/>
                </a:solidFill>
                <a:latin typeface="-webkit-standard"/>
                <a:ea typeface="Agrandir"/>
                <a:cs typeface="Agrandir"/>
                <a:sym typeface="Agrandir"/>
              </a:rPr>
              <a:t>Using </a:t>
            </a:r>
            <a:r>
              <a:rPr lang="en-US" sz="4000" b="1" dirty="0" err="1">
                <a:solidFill>
                  <a:srgbClr val="000000"/>
                </a:solidFill>
                <a:latin typeface="-webkit-standard"/>
                <a:ea typeface="Agrandir"/>
                <a:cs typeface="Agrandir"/>
                <a:sym typeface="Agrandir"/>
              </a:rPr>
              <a:t>Layoff_Index</a:t>
            </a:r>
            <a:r>
              <a:rPr lang="en-US" sz="4000" b="1" dirty="0">
                <a:solidFill>
                  <a:srgbClr val="000000"/>
                </a:solidFill>
                <a:latin typeface="-webkit-standard"/>
                <a:ea typeface="Agrandir"/>
                <a:cs typeface="Agrandir"/>
                <a:sym typeface="Agrandir"/>
              </a:rPr>
              <a:t> </a:t>
            </a:r>
            <a:r>
              <a:rPr lang="en-US" sz="4000" dirty="0">
                <a:solidFill>
                  <a:srgbClr val="000000"/>
                </a:solidFill>
                <a:latin typeface="-webkit-standard"/>
                <a:ea typeface="Agrandir"/>
                <a:cs typeface="Agrandir"/>
                <a:sym typeface="Agrandir"/>
              </a:rPr>
              <a:t>to predict </a:t>
            </a:r>
            <a:r>
              <a:rPr lang="en-US" sz="4000" b="1" i="0" u="none" strike="noStrike" dirty="0">
                <a:solidFill>
                  <a:srgbClr val="000000"/>
                </a:solidFill>
                <a:effectLst/>
              </a:rPr>
              <a:t>S&amp;P 500 index increased</a:t>
            </a: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 </a:t>
            </a:r>
            <a:r>
              <a:rPr lang="en-US" sz="4000" b="1" spc="-150" dirty="0">
                <a:solidFill>
                  <a:srgbClr val="171717"/>
                </a:solidFill>
                <a:latin typeface="Agrandir Bold"/>
                <a:sym typeface="Agrandir Bold"/>
              </a:rPr>
              <a:t> </a:t>
            </a:r>
            <a:endParaRPr lang="en-US" sz="4000" dirty="0">
              <a:solidFill>
                <a:srgbClr val="000000"/>
              </a:solidFill>
              <a:latin typeface="-webkit-standard"/>
              <a:ea typeface="Agrandir"/>
              <a:cs typeface="Agrandir"/>
              <a:sym typeface="Agrandir"/>
            </a:endParaRPr>
          </a:p>
          <a:p>
            <a:pPr marL="571500" indent="-5715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4000" dirty="0"/>
              <a:t>Accuracy for SP5_Up: 0.8762, </a:t>
            </a:r>
            <a:r>
              <a:rPr lang="en-US" sz="4000" b="1" i="0" u="none" strike="noStrike" dirty="0">
                <a:solidFill>
                  <a:srgbClr val="000000"/>
                </a:solidFill>
                <a:effectLst/>
              </a:rPr>
              <a:t>87.6% accuracy</a:t>
            </a:r>
          </a:p>
        </p:txBody>
      </p:sp>
      <p:pic>
        <p:nvPicPr>
          <p:cNvPr id="22" name="Picture 21" descr="A graph with blue lines and orange dots&#10;&#10;Description automatically generated">
            <a:extLst>
              <a:ext uri="{FF2B5EF4-FFF2-40B4-BE49-F238E27FC236}">
                <a16:creationId xmlns:a16="http://schemas.microsoft.com/office/drawing/2014/main" id="{66706A02-1329-841B-D0C6-FE31DB88D4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793231"/>
            <a:ext cx="11330426" cy="5303269"/>
          </a:xfrm>
          <a:prstGeom prst="rect">
            <a:avLst/>
          </a:prstGeom>
        </p:spPr>
      </p:pic>
      <p:sp>
        <p:nvSpPr>
          <p:cNvPr id="23" name="Oval 22">
            <a:extLst>
              <a:ext uri="{FF2B5EF4-FFF2-40B4-BE49-F238E27FC236}">
                <a16:creationId xmlns:a16="http://schemas.microsoft.com/office/drawing/2014/main" id="{4A7CED1D-4D5D-F4B5-FAAA-8553E313A6FF}"/>
              </a:ext>
            </a:extLst>
          </p:cNvPr>
          <p:cNvSpPr/>
          <p:nvPr/>
        </p:nvSpPr>
        <p:spPr>
          <a:xfrm>
            <a:off x="3581400" y="5143500"/>
            <a:ext cx="2362200" cy="456381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0428BFE-B07B-348A-8AEC-01A4B36D41BD}"/>
              </a:ext>
            </a:extLst>
          </p:cNvPr>
          <p:cNvSpPr/>
          <p:nvPr/>
        </p:nvSpPr>
        <p:spPr>
          <a:xfrm>
            <a:off x="7696199" y="5223164"/>
            <a:ext cx="1676402" cy="456381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6EAAEF1-1B65-ACB9-432D-897D805D1438}"/>
              </a:ext>
            </a:extLst>
          </p:cNvPr>
          <p:cNvSpPr/>
          <p:nvPr/>
        </p:nvSpPr>
        <p:spPr>
          <a:xfrm>
            <a:off x="9525000" y="5143501"/>
            <a:ext cx="2057400" cy="465166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20C275-24F8-126F-F013-DFC591B2FFB2}"/>
              </a:ext>
            </a:extLst>
          </p:cNvPr>
          <p:cNvSpPr/>
          <p:nvPr/>
        </p:nvSpPr>
        <p:spPr>
          <a:xfrm>
            <a:off x="11330426" y="3600543"/>
            <a:ext cx="6081795" cy="121956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i="0" u="none" strike="noStrike" dirty="0">
                <a:solidFill>
                  <a:srgbClr val="000000"/>
                </a:solidFill>
                <a:effectLst/>
              </a:rPr>
              <a:t>False Negatives (FN)</a:t>
            </a:r>
            <a:r>
              <a:rPr lang="en-US" sz="2800" b="0" i="0" u="none" strike="noStrike" dirty="0">
                <a:solidFill>
                  <a:srgbClr val="000000"/>
                </a:solidFill>
                <a:effectLst/>
              </a:rPr>
              <a:t> = predicted Down, actual Up</a:t>
            </a:r>
          </a:p>
          <a:p>
            <a:pPr algn="ctr"/>
            <a:endParaRPr lang="en-TW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3792200" y="6053913"/>
            <a:ext cx="4053489" cy="3518500"/>
          </a:xfrm>
          <a:custGeom>
            <a:avLst/>
            <a:gdLst/>
            <a:ahLst/>
            <a:cxnLst/>
            <a:rect l="l" t="t" r="r" b="b"/>
            <a:pathLst>
              <a:path w="8431366" h="7141052">
                <a:moveTo>
                  <a:pt x="0" y="0"/>
                </a:moveTo>
                <a:lnTo>
                  <a:pt x="8431365" y="0"/>
                </a:lnTo>
                <a:lnTo>
                  <a:pt x="8431365" y="7141052"/>
                </a:lnTo>
                <a:lnTo>
                  <a:pt x="0" y="71410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  <p:sp>
        <p:nvSpPr>
          <p:cNvPr id="14" name="Freeform 14"/>
          <p:cNvSpPr/>
          <p:nvPr/>
        </p:nvSpPr>
        <p:spPr>
          <a:xfrm rot="2984692">
            <a:off x="15047327" y="3286328"/>
            <a:ext cx="2583851" cy="2919163"/>
          </a:xfrm>
          <a:custGeom>
            <a:avLst/>
            <a:gdLst/>
            <a:ahLst/>
            <a:cxnLst/>
            <a:rect l="l" t="t" r="r" b="b"/>
            <a:pathLst>
              <a:path w="3381397" h="3393738">
                <a:moveTo>
                  <a:pt x="0" y="0"/>
                </a:moveTo>
                <a:lnTo>
                  <a:pt x="3381397" y="0"/>
                </a:lnTo>
                <a:lnTo>
                  <a:pt x="3381397" y="3393738"/>
                </a:lnTo>
                <a:lnTo>
                  <a:pt x="0" y="33937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  <p:sp>
        <p:nvSpPr>
          <p:cNvPr id="15" name="Freeform 15"/>
          <p:cNvSpPr/>
          <p:nvPr/>
        </p:nvSpPr>
        <p:spPr>
          <a:xfrm rot="1971934">
            <a:off x="14583488" y="1527394"/>
            <a:ext cx="2737173" cy="2279246"/>
          </a:xfrm>
          <a:custGeom>
            <a:avLst/>
            <a:gdLst/>
            <a:ahLst/>
            <a:cxnLst/>
            <a:rect l="l" t="t" r="r" b="b"/>
            <a:pathLst>
              <a:path w="2950826" h="2961595">
                <a:moveTo>
                  <a:pt x="0" y="0"/>
                </a:moveTo>
                <a:lnTo>
                  <a:pt x="2950826" y="0"/>
                </a:lnTo>
                <a:lnTo>
                  <a:pt x="2950826" y="2961595"/>
                </a:lnTo>
                <a:lnTo>
                  <a:pt x="0" y="296159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  <p:sp>
        <p:nvSpPr>
          <p:cNvPr id="18" name="TextBox 8">
            <a:extLst>
              <a:ext uri="{FF2B5EF4-FFF2-40B4-BE49-F238E27FC236}">
                <a16:creationId xmlns:a16="http://schemas.microsoft.com/office/drawing/2014/main" id="{3950A31A-30A4-D8F4-0F3F-CCA45AA5D61F}"/>
              </a:ext>
            </a:extLst>
          </p:cNvPr>
          <p:cNvSpPr txBox="1"/>
          <p:nvPr/>
        </p:nvSpPr>
        <p:spPr>
          <a:xfrm>
            <a:off x="561109" y="357322"/>
            <a:ext cx="16725901" cy="12195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799"/>
              </a:lnSpc>
            </a:pPr>
            <a:r>
              <a:rPr lang="en-US" sz="7200" b="1" spc="-150" dirty="0">
                <a:solidFill>
                  <a:srgbClr val="171717"/>
                </a:solidFill>
                <a:latin typeface="Agrandir Bold"/>
              </a:rPr>
              <a:t>Accuracy: VIX index increased </a:t>
            </a:r>
            <a:r>
              <a:rPr lang="en-US" sz="7200" b="1" spc="-150" dirty="0">
                <a:solidFill>
                  <a:srgbClr val="171717"/>
                </a:solidFill>
                <a:latin typeface="Agrandir Bold"/>
                <a:sym typeface="Agrandir Bold"/>
              </a:rPr>
              <a:t>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BA22B2-D627-E4AD-9404-3F1148CC9AFC}"/>
              </a:ext>
            </a:extLst>
          </p:cNvPr>
          <p:cNvSpPr txBox="1"/>
          <p:nvPr/>
        </p:nvSpPr>
        <p:spPr>
          <a:xfrm>
            <a:off x="548287" y="1722887"/>
            <a:ext cx="1292629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The VIX index = </a:t>
            </a:r>
            <a:r>
              <a:rPr lang="en-US" sz="3200" b="0" i="1" u="none" strike="noStrike" dirty="0">
                <a:solidFill>
                  <a:srgbClr val="000000"/>
                </a:solidFill>
                <a:effectLst/>
              </a:rPr>
              <a:t>“fear index”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, measuring 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</a:rPr>
              <a:t>market volatility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-webkit-standard"/>
                <a:ea typeface="Agrandir"/>
                <a:cs typeface="Agrandir"/>
                <a:sym typeface="Agrandir"/>
              </a:rPr>
              <a:t>Using </a:t>
            </a:r>
            <a:r>
              <a:rPr lang="en-US" sz="3200" b="1" dirty="0" err="1">
                <a:solidFill>
                  <a:srgbClr val="000000"/>
                </a:solidFill>
                <a:latin typeface="-webkit-standard"/>
                <a:ea typeface="Agrandir"/>
                <a:cs typeface="Agrandir"/>
                <a:sym typeface="Agrandir"/>
              </a:rPr>
              <a:t>Layoff_Index</a:t>
            </a:r>
            <a:r>
              <a:rPr lang="en-US" sz="3200" b="1" dirty="0">
                <a:solidFill>
                  <a:srgbClr val="000000"/>
                </a:solidFill>
                <a:latin typeface="-webkit-standard"/>
                <a:ea typeface="Agrandir"/>
                <a:cs typeface="Agrandir"/>
                <a:sym typeface="Agrandir"/>
              </a:rPr>
              <a:t> </a:t>
            </a:r>
            <a:r>
              <a:rPr lang="en-US" sz="3200" dirty="0">
                <a:solidFill>
                  <a:srgbClr val="000000"/>
                </a:solidFill>
                <a:latin typeface="-webkit-standard"/>
                <a:ea typeface="Agrandir"/>
                <a:cs typeface="Agrandir"/>
                <a:sym typeface="Agrandir"/>
              </a:rPr>
              <a:t>to predict</a:t>
            </a:r>
            <a:r>
              <a:rPr lang="en-US" sz="3200" b="1" dirty="0">
                <a:solidFill>
                  <a:srgbClr val="000000"/>
                </a:solidFill>
                <a:latin typeface="-webkit-standard"/>
                <a:ea typeface="Agrandir"/>
                <a:cs typeface="Agrandir"/>
                <a:sym typeface="Agrandir"/>
              </a:rPr>
              <a:t> </a:t>
            </a:r>
            <a:r>
              <a:rPr lang="en-US" sz="3200" b="1" spc="-150" dirty="0">
                <a:solidFill>
                  <a:srgbClr val="171717"/>
                </a:solidFill>
                <a:latin typeface="Agrandir Bold"/>
              </a:rPr>
              <a:t>VIX index increased </a:t>
            </a:r>
            <a:r>
              <a:rPr lang="en-US" sz="3200" b="1" spc="-150" dirty="0">
                <a:solidFill>
                  <a:srgbClr val="171717"/>
                </a:solidFill>
                <a:latin typeface="Agrandir Bold"/>
                <a:sym typeface="Agrandir Bold"/>
              </a:rPr>
              <a:t> </a:t>
            </a:r>
            <a:endParaRPr lang="en-US" sz="3200" b="1" i="0" u="none" strike="noStrike" dirty="0">
              <a:solidFill>
                <a:srgbClr val="000000"/>
              </a:solidFill>
              <a:effectLst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0" i="1" u="none" strike="noStrike" dirty="0">
                <a:solidFill>
                  <a:srgbClr val="000000"/>
                </a:solidFill>
                <a:effectLst/>
              </a:rPr>
              <a:t>Accuracy for </a:t>
            </a:r>
            <a:r>
              <a:rPr lang="en-US" sz="3200" b="0" i="1" u="none" strike="noStrike" dirty="0" err="1">
                <a:solidFill>
                  <a:srgbClr val="000000"/>
                </a:solidFill>
                <a:effectLst/>
              </a:rPr>
              <a:t>VIX_Up</a:t>
            </a:r>
            <a:r>
              <a:rPr lang="en-US" sz="3200" b="0" i="1" u="none" strike="noStrike" dirty="0">
                <a:solidFill>
                  <a:srgbClr val="000000"/>
                </a:solidFill>
                <a:effectLst/>
              </a:rPr>
              <a:t> (</a:t>
            </a:r>
            <a:r>
              <a:rPr lang="en-US" sz="3200" b="1" spc="-150" dirty="0">
                <a:solidFill>
                  <a:srgbClr val="171717"/>
                </a:solidFill>
                <a:latin typeface="Agrandir Bold"/>
              </a:rPr>
              <a:t>VIX index increased </a:t>
            </a:r>
            <a:r>
              <a:rPr lang="en-US" sz="3200" b="1" spc="-150" dirty="0">
                <a:solidFill>
                  <a:srgbClr val="171717"/>
                </a:solidFill>
                <a:latin typeface="Agrandir Bold"/>
                <a:sym typeface="Agrandir Bold"/>
              </a:rPr>
              <a:t> </a:t>
            </a:r>
            <a:r>
              <a:rPr lang="en-US" sz="3200" b="0" i="1" u="none" strike="noStrike" dirty="0">
                <a:solidFill>
                  <a:srgbClr val="000000"/>
                </a:solidFill>
                <a:effectLst/>
              </a:rPr>
              <a:t>): 0.8889, 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</a:rPr>
              <a:t>88.89% accuracy</a:t>
            </a:r>
            <a:endParaRPr lang="en-TW" sz="3200" dirty="0"/>
          </a:p>
        </p:txBody>
      </p:sp>
      <p:pic>
        <p:nvPicPr>
          <p:cNvPr id="24" name="Picture 23" descr="A graph with blue lines and orange dots&#10;&#10;Description automatically generated">
            <a:extLst>
              <a:ext uri="{FF2B5EF4-FFF2-40B4-BE49-F238E27FC236}">
                <a16:creationId xmlns:a16="http://schemas.microsoft.com/office/drawing/2014/main" id="{82490713-A7C0-AE15-86D5-CF9736306AD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132" y="4301763"/>
            <a:ext cx="12380447" cy="5794737"/>
          </a:xfrm>
          <a:prstGeom prst="rect">
            <a:avLst/>
          </a:prstGeom>
        </p:spPr>
      </p:pic>
      <p:sp>
        <p:nvSpPr>
          <p:cNvPr id="27" name="Oval 26">
            <a:extLst>
              <a:ext uri="{FF2B5EF4-FFF2-40B4-BE49-F238E27FC236}">
                <a16:creationId xmlns:a16="http://schemas.microsoft.com/office/drawing/2014/main" id="{0987EFD0-686B-CC0B-85FA-EA9F160E92AD}"/>
              </a:ext>
            </a:extLst>
          </p:cNvPr>
          <p:cNvSpPr/>
          <p:nvPr/>
        </p:nvSpPr>
        <p:spPr>
          <a:xfrm>
            <a:off x="3981754" y="4630735"/>
            <a:ext cx="2057400" cy="465166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F3F0A72-4656-29F9-F5AB-EA6B92796979}"/>
              </a:ext>
            </a:extLst>
          </p:cNvPr>
          <p:cNvSpPr/>
          <p:nvPr/>
        </p:nvSpPr>
        <p:spPr>
          <a:xfrm>
            <a:off x="8253600" y="4653568"/>
            <a:ext cx="2057400" cy="465166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CB9909E-0C33-7790-8ABB-5AC7B68BD209}"/>
              </a:ext>
            </a:extLst>
          </p:cNvPr>
          <p:cNvSpPr/>
          <p:nvPr/>
        </p:nvSpPr>
        <p:spPr>
          <a:xfrm>
            <a:off x="11277600" y="4676987"/>
            <a:ext cx="2057400" cy="465166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C0513CA-961E-6384-8480-E3EFBA5E7B8A}"/>
              </a:ext>
            </a:extLst>
          </p:cNvPr>
          <p:cNvSpPr/>
          <p:nvPr/>
        </p:nvSpPr>
        <p:spPr>
          <a:xfrm>
            <a:off x="11169120" y="3269810"/>
            <a:ext cx="6081795" cy="121956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i="0" u="none" strike="noStrike" dirty="0">
                <a:solidFill>
                  <a:srgbClr val="000000"/>
                </a:solidFill>
                <a:effectLst/>
              </a:rPr>
              <a:t>False Negatives (FN)</a:t>
            </a:r>
            <a:r>
              <a:rPr lang="en-US" sz="2800" b="0" i="0" u="none" strike="noStrike" dirty="0">
                <a:solidFill>
                  <a:srgbClr val="000000"/>
                </a:solidFill>
                <a:effectLst/>
              </a:rPr>
              <a:t> = predicted Down, actual Up</a:t>
            </a:r>
          </a:p>
          <a:p>
            <a:pPr algn="ctr"/>
            <a:endParaRPr lang="en-TW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/>
          <p:cNvSpPr txBox="1"/>
          <p:nvPr/>
        </p:nvSpPr>
        <p:spPr>
          <a:xfrm>
            <a:off x="678257" y="484490"/>
            <a:ext cx="17588722" cy="24170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9799"/>
              </a:lnSpc>
            </a:pPr>
            <a:r>
              <a:rPr lang="en-US" sz="9999" b="1" spc="-649" dirty="0">
                <a:solidFill>
                  <a:srgbClr val="171717"/>
                </a:solidFill>
                <a:latin typeface="Agrandir Bold"/>
                <a:ea typeface="Agrandir Bold"/>
                <a:cs typeface="Agrandir Bold"/>
                <a:sym typeface="Agrandir Bold"/>
              </a:rPr>
              <a:t> </a:t>
            </a:r>
            <a:r>
              <a:rPr lang="en-US" sz="6000" b="1" spc="-150" dirty="0">
                <a:solidFill>
                  <a:srgbClr val="171717"/>
                </a:solidFill>
                <a:latin typeface="Agrandir Bold"/>
                <a:sym typeface="Agrandir Bold"/>
              </a:rPr>
              <a:t>Confusion Matrix &amp; Model error (35) :</a:t>
            </a:r>
          </a:p>
          <a:p>
            <a:pPr marL="0" lvl="0" indent="0">
              <a:lnSpc>
                <a:spcPts val="9799"/>
              </a:lnSpc>
            </a:pPr>
            <a:r>
              <a:rPr lang="en-US" sz="6000" b="1" spc="-150" dirty="0">
                <a:solidFill>
                  <a:srgbClr val="171717"/>
                </a:solidFill>
                <a:latin typeface="Agrandir Bold"/>
                <a:sym typeface="Agrandir Bold"/>
              </a:rPr>
              <a:t> </a:t>
            </a:r>
            <a:r>
              <a:rPr lang="en-US" sz="6000" b="1" spc="-150" dirty="0">
                <a:solidFill>
                  <a:srgbClr val="171717"/>
                </a:solidFill>
                <a:latin typeface="Agrandir Bold"/>
              </a:rPr>
              <a:t>VIX index increased </a:t>
            </a:r>
            <a:r>
              <a:rPr lang="en-US" sz="6000" b="1" spc="-150" dirty="0">
                <a:solidFill>
                  <a:srgbClr val="171717"/>
                </a:solidFill>
                <a:latin typeface="Agrandir Bold"/>
                <a:sym typeface="Agrandir Bold"/>
              </a:rPr>
              <a:t> </a:t>
            </a:r>
          </a:p>
        </p:txBody>
      </p:sp>
      <p:sp>
        <p:nvSpPr>
          <p:cNvPr id="10" name="Freeform 10"/>
          <p:cNvSpPr/>
          <p:nvPr/>
        </p:nvSpPr>
        <p:spPr>
          <a:xfrm rot="4128628">
            <a:off x="14670011" y="6895302"/>
            <a:ext cx="2950826" cy="2961595"/>
          </a:xfrm>
          <a:custGeom>
            <a:avLst/>
            <a:gdLst/>
            <a:ahLst/>
            <a:cxnLst/>
            <a:rect l="l" t="t" r="r" b="b"/>
            <a:pathLst>
              <a:path w="2950826" h="2961595">
                <a:moveTo>
                  <a:pt x="0" y="0"/>
                </a:moveTo>
                <a:lnTo>
                  <a:pt x="2950825" y="0"/>
                </a:lnTo>
                <a:lnTo>
                  <a:pt x="2950825" y="2961595"/>
                </a:lnTo>
                <a:lnTo>
                  <a:pt x="0" y="29615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DA9D366-17C0-F40A-8E14-0D3175D377D9}"/>
              </a:ext>
            </a:extLst>
          </p:cNvPr>
          <p:cNvSpPr txBox="1"/>
          <p:nvPr/>
        </p:nvSpPr>
        <p:spPr>
          <a:xfrm>
            <a:off x="89678" y="3907628"/>
            <a:ext cx="5465618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endParaRPr lang="en-US" sz="2800" b="0" i="0" u="none" strike="noStrike" dirty="0">
              <a:solidFill>
                <a:srgbClr val="000000"/>
              </a:solidFill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400" b="1" i="0" u="none" strike="noStrike" dirty="0">
                <a:solidFill>
                  <a:srgbClr val="000000"/>
                </a:solidFill>
                <a:effectLst/>
              </a:rPr>
              <a:t>True Positives (TP)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</a:rPr>
              <a:t> = model predicted Up, actual Up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400" b="1" i="0" u="none" strike="noStrike" dirty="0">
                <a:solidFill>
                  <a:srgbClr val="000000"/>
                </a:solidFill>
                <a:effectLst/>
              </a:rPr>
              <a:t>True Negatives (TN)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</a:rPr>
              <a:t> = model predicted Down, actual Down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400" b="1" i="0" u="none" strike="noStrike" dirty="0">
                <a:solidFill>
                  <a:srgbClr val="000000"/>
                </a:solidFill>
                <a:effectLst/>
              </a:rPr>
              <a:t>False Positives (FP)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</a:rPr>
              <a:t> = predicted Up, actual Down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400" b="1" i="0" u="none" strike="noStrike" dirty="0">
                <a:solidFill>
                  <a:srgbClr val="000000"/>
                </a:solidFill>
                <a:effectLst/>
              </a:rPr>
              <a:t>False Negatives (FN)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</a:rPr>
              <a:t> = predicted Down, actual Up</a:t>
            </a:r>
          </a:p>
        </p:txBody>
      </p:sp>
      <p:pic>
        <p:nvPicPr>
          <p:cNvPr id="5" name="Picture 4" descr="A diagram of a confusion matrix&#10;&#10;Description automatically generated">
            <a:extLst>
              <a:ext uri="{FF2B5EF4-FFF2-40B4-BE49-F238E27FC236}">
                <a16:creationId xmlns:a16="http://schemas.microsoft.com/office/drawing/2014/main" id="{0FAAB207-0699-7CF1-815C-74169D4D8A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4216" y="1984376"/>
            <a:ext cx="7914984" cy="70692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3A6FFF-A129-C7CA-B8DD-CC89CD1C23CA}"/>
              </a:ext>
            </a:extLst>
          </p:cNvPr>
          <p:cNvSpPr txBox="1"/>
          <p:nvPr/>
        </p:nvSpPr>
        <p:spPr>
          <a:xfrm>
            <a:off x="8915400" y="4227941"/>
            <a:ext cx="34844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-webkit-standard"/>
              </a:rPr>
              <a:t>True Negatives (TN) </a:t>
            </a:r>
            <a:endParaRPr lang="en-TW" sz="3200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E5DDDF-3A1A-DE1F-08C6-728EBEED87C3}"/>
              </a:ext>
            </a:extLst>
          </p:cNvPr>
          <p:cNvSpPr txBox="1"/>
          <p:nvPr/>
        </p:nvSpPr>
        <p:spPr>
          <a:xfrm>
            <a:off x="12192000" y="5828141"/>
            <a:ext cx="34844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-webkit-standard"/>
              </a:rPr>
              <a:t>True Positives (TP)</a:t>
            </a:r>
            <a:endParaRPr lang="en-TW" sz="3200" dirty="0">
              <a:highlight>
                <a:srgbClr val="FFFF00"/>
              </a:highligh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991819-4EE8-424A-5D9B-8C1CDE09CD3A}"/>
              </a:ext>
            </a:extLst>
          </p:cNvPr>
          <p:cNvSpPr txBox="1"/>
          <p:nvPr/>
        </p:nvSpPr>
        <p:spPr>
          <a:xfrm>
            <a:off x="12192000" y="2933700"/>
            <a:ext cx="34844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0" u="none" strike="noStrike" dirty="0">
                <a:solidFill>
                  <a:srgbClr val="000000"/>
                </a:solidFill>
                <a:effectLst/>
                <a:highlight>
                  <a:srgbClr val="00FF00"/>
                </a:highlight>
              </a:rPr>
              <a:t>False Positives (FP)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-webkit-standard"/>
              </a:rPr>
              <a:t> </a:t>
            </a:r>
            <a:endParaRPr lang="en-TW" sz="3200" dirty="0">
              <a:highlight>
                <a:srgbClr val="00FF00"/>
              </a:highligh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D9BD83-3332-376B-60FD-E3E5E9AFB6FD}"/>
              </a:ext>
            </a:extLst>
          </p:cNvPr>
          <p:cNvSpPr txBox="1"/>
          <p:nvPr/>
        </p:nvSpPr>
        <p:spPr>
          <a:xfrm>
            <a:off x="8820150" y="7048500"/>
            <a:ext cx="37182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-webkit-standard"/>
              </a:rPr>
              <a:t>False Negatives (FN)</a:t>
            </a:r>
            <a:endParaRPr lang="en-TW" sz="3200" dirty="0">
              <a:highlight>
                <a:srgbClr val="00FF00"/>
              </a:highligh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214C03-6103-E350-EC2B-A20A45C783E9}"/>
              </a:ext>
            </a:extLst>
          </p:cNvPr>
          <p:cNvSpPr txBox="1"/>
          <p:nvPr/>
        </p:nvSpPr>
        <p:spPr>
          <a:xfrm>
            <a:off x="9235307" y="5831605"/>
            <a:ext cx="292446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spc="-150" dirty="0">
                <a:solidFill>
                  <a:srgbClr val="FF0000"/>
                </a:solidFill>
                <a:latin typeface="Agrandir Bold"/>
                <a:sym typeface="Agrandir Bold"/>
              </a:rPr>
              <a:t>Model error </a:t>
            </a:r>
            <a:endParaRPr lang="en-TW" sz="3600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6A47C3-4EB9-7D1A-1342-EB1AD38F49B8}"/>
              </a:ext>
            </a:extLst>
          </p:cNvPr>
          <p:cNvSpPr txBox="1"/>
          <p:nvPr/>
        </p:nvSpPr>
        <p:spPr>
          <a:xfrm>
            <a:off x="12399818" y="4041654"/>
            <a:ext cx="292446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spc="-150" dirty="0">
                <a:solidFill>
                  <a:srgbClr val="FF0000"/>
                </a:solidFill>
                <a:latin typeface="Agrandir Bold"/>
                <a:sym typeface="Agrandir Bold"/>
              </a:rPr>
              <a:t>Model error </a:t>
            </a:r>
            <a:endParaRPr lang="en-TW" sz="3600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D952A3D-16AC-22F2-E643-FCCCF8FDAE86}"/>
              </a:ext>
            </a:extLst>
          </p:cNvPr>
          <p:cNvSpPr txBox="1"/>
          <p:nvPr/>
        </p:nvSpPr>
        <p:spPr>
          <a:xfrm>
            <a:off x="10058400" y="9137628"/>
            <a:ext cx="92583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i="0" u="none" strike="noStrike" dirty="0">
                <a:solidFill>
                  <a:srgbClr val="000000"/>
                </a:solidFill>
                <a:effectLst/>
              </a:rPr>
              <a:t>88.89% accuracy</a:t>
            </a:r>
            <a:endParaRPr lang="en-TW" sz="3600" dirty="0"/>
          </a:p>
        </p:txBody>
      </p:sp>
    </p:spTree>
    <p:extLst>
      <p:ext uri="{BB962C8B-B14F-4D97-AF65-F5344CB8AC3E}">
        <p14:creationId xmlns:p14="http://schemas.microsoft.com/office/powerpoint/2010/main" val="460241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a confusion matrix&#10;&#10;Description automatically generated">
            <a:extLst>
              <a:ext uri="{FF2B5EF4-FFF2-40B4-BE49-F238E27FC236}">
                <a16:creationId xmlns:a16="http://schemas.microsoft.com/office/drawing/2014/main" id="{7EAD356B-082C-E5B2-900F-69DA6B4F51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5326" y="1901250"/>
            <a:ext cx="7914984" cy="7069273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561109" y="357322"/>
            <a:ext cx="17726891" cy="12114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799"/>
              </a:lnSpc>
            </a:pPr>
            <a:r>
              <a:rPr lang="en-US" sz="7200" b="1" spc="-150" dirty="0">
                <a:solidFill>
                  <a:srgbClr val="171717"/>
                </a:solidFill>
                <a:latin typeface="Agrandir Bold"/>
                <a:sym typeface="Agrandir Bold"/>
              </a:rPr>
              <a:t>Model error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EA86D09-0219-27D1-1620-D55C4C135734}"/>
              </a:ext>
            </a:extLst>
          </p:cNvPr>
          <p:cNvSpPr txBox="1"/>
          <p:nvPr/>
        </p:nvSpPr>
        <p:spPr>
          <a:xfrm>
            <a:off x="10058400" y="4272440"/>
            <a:ext cx="34844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-webkit-standard"/>
              </a:rPr>
              <a:t>True Negatives (TN) </a:t>
            </a:r>
            <a:endParaRPr lang="en-TW" sz="3200" dirty="0">
              <a:highlight>
                <a:srgbClr val="FFFF00"/>
              </a:highlight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DA56AC-5C7A-9A69-803C-7E574429D3D4}"/>
              </a:ext>
            </a:extLst>
          </p:cNvPr>
          <p:cNvSpPr txBox="1"/>
          <p:nvPr/>
        </p:nvSpPr>
        <p:spPr>
          <a:xfrm>
            <a:off x="13691753" y="6997987"/>
            <a:ext cx="34844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-webkit-standard"/>
              </a:rPr>
              <a:t>True Positives (TP)</a:t>
            </a:r>
            <a:endParaRPr lang="en-TW" sz="3200" dirty="0">
              <a:highlight>
                <a:srgbClr val="FFFF00"/>
              </a:highlight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232E337-19E9-68B3-9174-31F596AD59CF}"/>
              </a:ext>
            </a:extLst>
          </p:cNvPr>
          <p:cNvSpPr txBox="1"/>
          <p:nvPr/>
        </p:nvSpPr>
        <p:spPr>
          <a:xfrm>
            <a:off x="13563839" y="2958525"/>
            <a:ext cx="34844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0" u="none" strike="noStrike" dirty="0">
                <a:solidFill>
                  <a:srgbClr val="000000"/>
                </a:solidFill>
                <a:effectLst/>
                <a:highlight>
                  <a:srgbClr val="00FF00"/>
                </a:highlight>
              </a:rPr>
              <a:t>False Positives (FP)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-webkit-standard"/>
              </a:rPr>
              <a:t> </a:t>
            </a:r>
            <a:endParaRPr lang="en-TW" sz="3200" dirty="0">
              <a:highlight>
                <a:srgbClr val="00FF00"/>
              </a:highlight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DE0F289-6812-AD1F-14EA-DD91F76754BB}"/>
              </a:ext>
            </a:extLst>
          </p:cNvPr>
          <p:cNvSpPr txBox="1"/>
          <p:nvPr/>
        </p:nvSpPr>
        <p:spPr>
          <a:xfrm>
            <a:off x="9649401" y="7290375"/>
            <a:ext cx="37182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highlight>
                  <a:srgbClr val="00FF00"/>
                </a:highlight>
                <a:latin typeface="-webkit-standard"/>
              </a:rPr>
              <a:t>False Negatives (FN)</a:t>
            </a:r>
            <a:endParaRPr lang="en-TW" sz="3200" dirty="0">
              <a:highlight>
                <a:srgbClr val="00FF00"/>
              </a:highlight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B3221C-EB34-FA95-1D56-F48017756287}"/>
              </a:ext>
            </a:extLst>
          </p:cNvPr>
          <p:cNvSpPr txBox="1"/>
          <p:nvPr/>
        </p:nvSpPr>
        <p:spPr>
          <a:xfrm>
            <a:off x="216476" y="6349726"/>
            <a:ext cx="8839200" cy="267765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l"/>
            <a:r>
              <a:rPr lang="en-US" sz="2800" b="1" i="0" u="none" strike="noStrike" dirty="0">
                <a:solidFill>
                  <a:srgbClr val="000000"/>
                </a:solidFill>
                <a:effectLst/>
              </a:rPr>
              <a:t>False Negatives (FN)</a:t>
            </a:r>
          </a:p>
          <a:p>
            <a:pPr algn="l"/>
            <a:r>
              <a:rPr lang="en-US" sz="2800" b="0" i="1" u="none" strike="noStrike" dirty="0">
                <a:solidFill>
                  <a:srgbClr val="000000"/>
                </a:solidFill>
                <a:effectLst/>
              </a:rPr>
              <a:t>Model predicted Down when the market went Up.</a:t>
            </a:r>
            <a:endParaRPr lang="en-US" sz="2800" b="0" i="0" u="none" strike="noStrike" dirty="0">
              <a:solidFill>
                <a:srgbClr val="000000"/>
              </a:solidFill>
              <a:effectLst/>
            </a:endParaRPr>
          </a:p>
          <a:p>
            <a:pPr algn="l"/>
            <a:r>
              <a:rPr lang="en-US" sz="2800" b="0" i="0" u="none" strike="noStrike" dirty="0">
                <a:solidFill>
                  <a:srgbClr val="000000"/>
                </a:solidFill>
                <a:effectLst/>
              </a:rPr>
              <a:t>Possible reasons: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u="none" strike="noStrike" dirty="0">
                <a:solidFill>
                  <a:srgbClr val="000000"/>
                </a:solidFill>
                <a:effectLst/>
              </a:rPr>
              <a:t>Market recovered due to positive news unrelated to layoffs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u="none" strike="noStrike" dirty="0">
                <a:solidFill>
                  <a:srgbClr val="000000"/>
                </a:solidFill>
                <a:effectLst/>
              </a:rPr>
              <a:t>Limited representation of rare market behavior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u="none" strike="noStrike" dirty="0">
                <a:solidFill>
                  <a:srgbClr val="000000"/>
                </a:solidFill>
                <a:effectLst/>
              </a:rPr>
              <a:t>Decision Tree oversimplifying complex market patterns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07C101-EC53-F0AF-5EEA-4FBE07EECD91}"/>
              </a:ext>
            </a:extLst>
          </p:cNvPr>
          <p:cNvSpPr txBox="1"/>
          <p:nvPr/>
        </p:nvSpPr>
        <p:spPr>
          <a:xfrm>
            <a:off x="228600" y="2476500"/>
            <a:ext cx="8763001" cy="35394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3200" b="1" i="0" u="none" strike="noStrike" dirty="0">
                <a:solidFill>
                  <a:srgbClr val="000000"/>
                </a:solidFill>
                <a:effectLst/>
              </a:rPr>
              <a:t>False Positives (FP)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 = predicted Up, actual Down</a:t>
            </a:r>
            <a:br>
              <a:rPr lang="en-US" sz="3200" b="0" i="0" u="none" strike="noStrike" dirty="0">
                <a:solidFill>
                  <a:srgbClr val="000000"/>
                </a:solidFill>
                <a:effectLst/>
              </a:rPr>
            </a:br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Possible reasons: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Sudden negative economic news not captured in layoff data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The model overweighted a specific industry/location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Market volatility spikes (unexpected events)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DA9D51-9E51-E2A8-E1D7-7ED7092C7E09}"/>
              </a:ext>
            </a:extLst>
          </p:cNvPr>
          <p:cNvSpPr txBox="1"/>
          <p:nvPr/>
        </p:nvSpPr>
        <p:spPr>
          <a:xfrm>
            <a:off x="10378307" y="5744195"/>
            <a:ext cx="292446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spc="-150" dirty="0">
                <a:solidFill>
                  <a:srgbClr val="FF0000"/>
                </a:solidFill>
                <a:latin typeface="Agrandir Bold"/>
                <a:sym typeface="Agrandir Bold"/>
              </a:rPr>
              <a:t>Model error </a:t>
            </a:r>
            <a:endParaRPr lang="en-TW" sz="3600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73A5-847F-A697-8042-FAB8C2FFB5C6}"/>
              </a:ext>
            </a:extLst>
          </p:cNvPr>
          <p:cNvSpPr txBox="1"/>
          <p:nvPr/>
        </p:nvSpPr>
        <p:spPr>
          <a:xfrm>
            <a:off x="13542818" y="3954244"/>
            <a:ext cx="292446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spc="-150" dirty="0">
                <a:solidFill>
                  <a:srgbClr val="FF0000"/>
                </a:solidFill>
                <a:latin typeface="Agrandir Bold"/>
                <a:sym typeface="Agrandir Bold"/>
              </a:rPr>
              <a:t>Model error </a:t>
            </a:r>
            <a:endParaRPr lang="en-TW" sz="360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13AFD8-4201-721F-1169-1BDC6FF7235F}"/>
              </a:ext>
            </a:extLst>
          </p:cNvPr>
          <p:cNvSpPr txBox="1"/>
          <p:nvPr/>
        </p:nvSpPr>
        <p:spPr>
          <a:xfrm>
            <a:off x="11201400" y="9050218"/>
            <a:ext cx="92583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i="0" u="none" strike="noStrike" dirty="0">
                <a:solidFill>
                  <a:srgbClr val="000000"/>
                </a:solidFill>
                <a:effectLst/>
              </a:rPr>
              <a:t>88.89% accuracy</a:t>
            </a:r>
            <a:endParaRPr lang="en-TW" sz="3600" dirty="0"/>
          </a:p>
        </p:txBody>
      </p:sp>
    </p:spTree>
    <p:extLst>
      <p:ext uri="{BB962C8B-B14F-4D97-AF65-F5344CB8AC3E}">
        <p14:creationId xmlns:p14="http://schemas.microsoft.com/office/powerpoint/2010/main" val="1668805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8">
            <a:extLst>
              <a:ext uri="{FF2B5EF4-FFF2-40B4-BE49-F238E27FC236}">
                <a16:creationId xmlns:a16="http://schemas.microsoft.com/office/drawing/2014/main" id="{BCC39F87-891C-2C37-B218-8A191280CC8B}"/>
              </a:ext>
            </a:extLst>
          </p:cNvPr>
          <p:cNvSpPr txBox="1"/>
          <p:nvPr/>
        </p:nvSpPr>
        <p:spPr>
          <a:xfrm>
            <a:off x="561109" y="357322"/>
            <a:ext cx="17726891" cy="12114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799"/>
              </a:lnSpc>
            </a:pPr>
            <a:r>
              <a:rPr lang="en-US" sz="7200" b="1" spc="-150" dirty="0">
                <a:solidFill>
                  <a:srgbClr val="171717"/>
                </a:solidFill>
                <a:latin typeface="Agrandir Bold"/>
                <a:sym typeface="Agrandir Bold"/>
              </a:rPr>
              <a:t>Best Model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EDC0C3-7DD0-1C1B-BECE-ACC677E2484E}"/>
              </a:ext>
            </a:extLst>
          </p:cNvPr>
          <p:cNvSpPr txBox="1"/>
          <p:nvPr/>
        </p:nvSpPr>
        <p:spPr>
          <a:xfrm>
            <a:off x="7924800" y="357322"/>
            <a:ext cx="926869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>
                <a:latin typeface="Baloo Bhaijaan" panose="03080902040302020200" pitchFamily="66" charset="-78"/>
                <a:cs typeface="Baloo Bhaijaan" panose="03080902040302020200" pitchFamily="66" charset="-78"/>
              </a:rPr>
              <a:t>Accuracy for </a:t>
            </a:r>
            <a:r>
              <a:rPr lang="en-US" sz="3600" dirty="0" err="1">
                <a:latin typeface="Baloo Bhaijaan" panose="03080902040302020200" pitchFamily="66" charset="-78"/>
                <a:cs typeface="Baloo Bhaijaan" panose="03080902040302020200" pitchFamily="66" charset="-78"/>
              </a:rPr>
              <a:t>DecisionTree</a:t>
            </a:r>
            <a:r>
              <a:rPr lang="en-US" sz="3600" dirty="0">
                <a:latin typeface="Baloo Bhaijaan" panose="03080902040302020200" pitchFamily="66" charset="-78"/>
                <a:cs typeface="Baloo Bhaijaan" panose="03080902040302020200" pitchFamily="66" charset="-78"/>
              </a:rPr>
              <a:t>: 0.8889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>
                <a:latin typeface="Baloo Bhaijaan" panose="03080902040302020200" pitchFamily="66" charset="-78"/>
                <a:cs typeface="Baloo Bhaijaan" panose="03080902040302020200" pitchFamily="66" charset="-78"/>
              </a:rPr>
              <a:t>Accuracy for </a:t>
            </a:r>
            <a:r>
              <a:rPr lang="en-US" sz="3600" dirty="0" err="1">
                <a:latin typeface="Baloo Bhaijaan" panose="03080902040302020200" pitchFamily="66" charset="-78"/>
                <a:cs typeface="Baloo Bhaijaan" panose="03080902040302020200" pitchFamily="66" charset="-78"/>
              </a:rPr>
              <a:t>RandomForest</a:t>
            </a:r>
            <a:r>
              <a:rPr lang="en-US" sz="3600" dirty="0">
                <a:latin typeface="Baloo Bhaijaan" panose="03080902040302020200" pitchFamily="66" charset="-78"/>
                <a:cs typeface="Baloo Bhaijaan" panose="03080902040302020200" pitchFamily="66" charset="-78"/>
              </a:rPr>
              <a:t>: 0.9048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>
                <a:latin typeface="Baloo Bhaijaan" panose="03080902040302020200" pitchFamily="66" charset="-78"/>
                <a:cs typeface="Baloo Bhaijaan" panose="03080902040302020200" pitchFamily="66" charset="-78"/>
              </a:rPr>
              <a:t>Accuracy for </a:t>
            </a:r>
            <a:r>
              <a:rPr lang="en-US" sz="3600" dirty="0" err="1">
                <a:latin typeface="Baloo Bhaijaan" panose="03080902040302020200" pitchFamily="66" charset="-78"/>
                <a:cs typeface="Baloo Bhaijaan" panose="03080902040302020200" pitchFamily="66" charset="-78"/>
              </a:rPr>
              <a:t>XGBoost</a:t>
            </a:r>
            <a:r>
              <a:rPr lang="en-US" sz="3600" dirty="0">
                <a:latin typeface="Baloo Bhaijaan" panose="03080902040302020200" pitchFamily="66" charset="-78"/>
                <a:cs typeface="Baloo Bhaijaan" panose="03080902040302020200" pitchFamily="66" charset="-78"/>
              </a:rPr>
              <a:t>: 0.9079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39DF70-608C-A51B-C5F5-4EC4770B4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524" y="2265626"/>
            <a:ext cx="11425476" cy="731279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E3A972-1A18-5A35-792E-07CF03FD92F4}"/>
              </a:ext>
            </a:extLst>
          </p:cNvPr>
          <p:cNvSpPr txBox="1"/>
          <p:nvPr/>
        </p:nvSpPr>
        <p:spPr>
          <a:xfrm>
            <a:off x="2438400" y="9283347"/>
            <a:ext cx="6705600" cy="64633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3600" dirty="0">
                <a:latin typeface="Baloo Bhaijaan" panose="03080902040302020200" pitchFamily="66" charset="-78"/>
                <a:cs typeface="Baloo Bhaijaan" panose="03080902040302020200" pitchFamily="66" charset="-78"/>
              </a:rPr>
              <a:t>BEST MODEL: </a:t>
            </a:r>
            <a:r>
              <a:rPr lang="en-US" sz="3600" dirty="0" err="1">
                <a:latin typeface="Baloo Bhaijaan" panose="03080902040302020200" pitchFamily="66" charset="-78"/>
                <a:cs typeface="Baloo Bhaijaan" panose="03080902040302020200" pitchFamily="66" charset="-78"/>
              </a:rPr>
              <a:t>XGBoost</a:t>
            </a:r>
            <a:r>
              <a:rPr lang="en-US" sz="3600" dirty="0">
                <a:latin typeface="Baloo Bhaijaan" panose="03080902040302020200" pitchFamily="66" charset="-78"/>
                <a:cs typeface="Baloo Bhaijaan" panose="03080902040302020200" pitchFamily="66" charset="-78"/>
              </a:rPr>
              <a:t> (0.9079)</a:t>
            </a:r>
            <a:endParaRPr lang="en-TW" sz="3600" dirty="0">
              <a:latin typeface="Baloo Bhaijaan" panose="03080902040302020200" pitchFamily="66" charset="-78"/>
              <a:cs typeface="Baloo Bhaijaan" panose="03080902040302020200" pitchFamily="66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6827302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952B121C-9A9F-19F6-587C-E2C7DFC40D3C}"/>
              </a:ext>
            </a:extLst>
          </p:cNvPr>
          <p:cNvSpPr/>
          <p:nvPr/>
        </p:nvSpPr>
        <p:spPr>
          <a:xfrm>
            <a:off x="10535820" y="4525751"/>
            <a:ext cx="7752180" cy="4844509"/>
          </a:xfrm>
          <a:custGeom>
            <a:avLst/>
            <a:gdLst/>
            <a:ahLst/>
            <a:cxnLst/>
            <a:rect l="l" t="t" r="r" b="b"/>
            <a:pathLst>
              <a:path w="11733517" h="7527379">
                <a:moveTo>
                  <a:pt x="0" y="0"/>
                </a:moveTo>
                <a:lnTo>
                  <a:pt x="11733518" y="0"/>
                </a:lnTo>
                <a:lnTo>
                  <a:pt x="11733518" y="7527379"/>
                </a:lnTo>
                <a:lnTo>
                  <a:pt x="0" y="75273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  <p:sp>
        <p:nvSpPr>
          <p:cNvPr id="3" name="Freeform 10">
            <a:extLst>
              <a:ext uri="{FF2B5EF4-FFF2-40B4-BE49-F238E27FC236}">
                <a16:creationId xmlns:a16="http://schemas.microsoft.com/office/drawing/2014/main" id="{D20AD2C2-D464-D764-727E-D6BF88A047DB}"/>
              </a:ext>
            </a:extLst>
          </p:cNvPr>
          <p:cNvSpPr/>
          <p:nvPr/>
        </p:nvSpPr>
        <p:spPr>
          <a:xfrm rot="4128628">
            <a:off x="14687962" y="1172152"/>
            <a:ext cx="2950826" cy="2961595"/>
          </a:xfrm>
          <a:custGeom>
            <a:avLst/>
            <a:gdLst/>
            <a:ahLst/>
            <a:cxnLst/>
            <a:rect l="l" t="t" r="r" b="b"/>
            <a:pathLst>
              <a:path w="2950826" h="2961595">
                <a:moveTo>
                  <a:pt x="0" y="0"/>
                </a:moveTo>
                <a:lnTo>
                  <a:pt x="2950825" y="0"/>
                </a:lnTo>
                <a:lnTo>
                  <a:pt x="2950825" y="2961595"/>
                </a:lnTo>
                <a:lnTo>
                  <a:pt x="0" y="296159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F40AB484-838A-2034-D8F7-7B1419F791CF}"/>
              </a:ext>
            </a:extLst>
          </p:cNvPr>
          <p:cNvSpPr txBox="1"/>
          <p:nvPr/>
        </p:nvSpPr>
        <p:spPr>
          <a:xfrm>
            <a:off x="914400" y="291640"/>
            <a:ext cx="10135735" cy="1327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9799"/>
              </a:lnSpc>
            </a:pPr>
            <a:r>
              <a:rPr lang="en-US" sz="9600" b="1" i="0" u="none" strike="noStrike" dirty="0">
                <a:solidFill>
                  <a:srgbClr val="000000"/>
                </a:solidFill>
                <a:effectLst/>
              </a:rPr>
              <a:t>Users / Usefulness</a:t>
            </a:r>
            <a:endParaRPr lang="en-US" sz="9999" b="1" spc="-150" dirty="0">
              <a:solidFill>
                <a:srgbClr val="171717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8FFF19-E6AA-27CE-84DC-4FA4211AF29C}"/>
              </a:ext>
            </a:extLst>
          </p:cNvPr>
          <p:cNvSpPr txBox="1"/>
          <p:nvPr/>
        </p:nvSpPr>
        <p:spPr>
          <a:xfrm>
            <a:off x="914400" y="1618863"/>
            <a:ext cx="9677400" cy="8125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3600" b="0" i="0" u="none" strike="noStrike" dirty="0">
                <a:solidFill>
                  <a:srgbClr val="000000"/>
                </a:solidFill>
                <a:effectLst/>
              </a:rPr>
              <a:t>This system can be useful for:</a:t>
            </a:r>
          </a:p>
          <a:p>
            <a:pPr algn="l"/>
            <a:r>
              <a:rPr lang="en-US" sz="3600" b="1" i="0" u="none" strike="noStrike" dirty="0">
                <a:solidFill>
                  <a:srgbClr val="000000"/>
                </a:solidFill>
                <a:effectLst/>
              </a:rPr>
              <a:t>1. Financial Analysts &amp; Traders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600" b="0" i="0" u="none" strike="noStrike" dirty="0">
                <a:solidFill>
                  <a:srgbClr val="000000"/>
                </a:solidFill>
                <a:effectLst/>
              </a:rPr>
              <a:t>Identifying market sentiment signals driven by workforce reductions.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600" b="0" i="0" u="none" strike="noStrike" dirty="0">
                <a:solidFill>
                  <a:srgbClr val="000000"/>
                </a:solidFill>
                <a:effectLst/>
              </a:rPr>
              <a:t>Adding alternative datasets (layoff data) to trading models.</a:t>
            </a:r>
          </a:p>
          <a:p>
            <a:pPr algn="l"/>
            <a:r>
              <a:rPr lang="en-US" sz="3600" b="1" i="0" u="none" strike="noStrike" dirty="0">
                <a:solidFill>
                  <a:srgbClr val="000000"/>
                </a:solidFill>
                <a:effectLst/>
              </a:rPr>
              <a:t>2. Economists &amp; Policy Researchers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600" b="0" i="0" u="none" strike="noStrike" dirty="0">
                <a:solidFill>
                  <a:srgbClr val="000000"/>
                </a:solidFill>
                <a:effectLst/>
              </a:rPr>
              <a:t>Understanding how labor market stress correlates with market volatility.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600" b="0" i="0" u="none" strike="noStrike" dirty="0">
                <a:solidFill>
                  <a:srgbClr val="000000"/>
                </a:solidFill>
                <a:effectLst/>
              </a:rPr>
              <a:t>Monitoring systemic risk indicators during recession periods.</a:t>
            </a:r>
          </a:p>
          <a:p>
            <a:pPr algn="l"/>
            <a:r>
              <a:rPr lang="en-US" sz="3600" b="1" i="0" u="none" strike="noStrike" dirty="0">
                <a:solidFill>
                  <a:srgbClr val="000000"/>
                </a:solidFill>
                <a:effectLst/>
              </a:rPr>
              <a:t>3. Business Strategy Teams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600" b="0" i="0" u="none" strike="noStrike" dirty="0">
                <a:solidFill>
                  <a:srgbClr val="000000"/>
                </a:solidFill>
                <a:effectLst/>
              </a:rPr>
              <a:t>Evaluating whether layoff trends within industries impact investor reactions</a:t>
            </a:r>
          </a:p>
          <a:p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3117625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952B121C-9A9F-19F6-587C-E2C7DFC40D3C}"/>
              </a:ext>
            </a:extLst>
          </p:cNvPr>
          <p:cNvSpPr/>
          <p:nvPr/>
        </p:nvSpPr>
        <p:spPr>
          <a:xfrm>
            <a:off x="11658600" y="6057900"/>
            <a:ext cx="6975764" cy="3777709"/>
          </a:xfrm>
          <a:custGeom>
            <a:avLst/>
            <a:gdLst/>
            <a:ahLst/>
            <a:cxnLst/>
            <a:rect l="l" t="t" r="r" b="b"/>
            <a:pathLst>
              <a:path w="11733517" h="7527379">
                <a:moveTo>
                  <a:pt x="0" y="0"/>
                </a:moveTo>
                <a:lnTo>
                  <a:pt x="11733518" y="0"/>
                </a:lnTo>
                <a:lnTo>
                  <a:pt x="11733518" y="7527379"/>
                </a:lnTo>
                <a:lnTo>
                  <a:pt x="0" y="75273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F40AB484-838A-2034-D8F7-7B1419F791CF}"/>
              </a:ext>
            </a:extLst>
          </p:cNvPr>
          <p:cNvSpPr txBox="1"/>
          <p:nvPr/>
        </p:nvSpPr>
        <p:spPr>
          <a:xfrm>
            <a:off x="914400" y="1173879"/>
            <a:ext cx="10135735" cy="1327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9799"/>
              </a:lnSpc>
            </a:pPr>
            <a:r>
              <a:rPr lang="en-US" sz="9999" b="1" spc="-150" dirty="0">
                <a:solidFill>
                  <a:srgbClr val="171717"/>
                </a:solidFill>
                <a:latin typeface="Agrandir Bold"/>
                <a:ea typeface="Agrandir Bold"/>
                <a:cs typeface="Agrandir Bold"/>
                <a:sym typeface="Agrandir Bold"/>
              </a:rPr>
              <a:t>Future 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2B6BA7-DF61-B037-5F48-783A23DF4544}"/>
              </a:ext>
            </a:extLst>
          </p:cNvPr>
          <p:cNvSpPr txBox="1"/>
          <p:nvPr/>
        </p:nvSpPr>
        <p:spPr>
          <a:xfrm>
            <a:off x="914400" y="2525347"/>
            <a:ext cx="10363200" cy="7478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200" b="1" i="0" u="none" strike="noStrike" dirty="0">
                <a:solidFill>
                  <a:srgbClr val="000000"/>
                </a:solidFill>
                <a:effectLst/>
              </a:rPr>
              <a:t>1. Add Macro-Economic Features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Interest rates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Inflation (CPI)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Unemployment rates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GDP changes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This would reduce false negatives and improve robustness.</a:t>
            </a:r>
          </a:p>
          <a:p>
            <a:pPr algn="l"/>
            <a:r>
              <a:rPr lang="en-US" sz="3200" b="1" dirty="0">
                <a:solidFill>
                  <a:srgbClr val="000000"/>
                </a:solidFill>
              </a:rPr>
              <a:t>2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</a:rPr>
              <a:t>. Handle Class Imbalance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Use SMOTE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Apply class-weighted training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Balance Up vs Down days more effectively</a:t>
            </a:r>
          </a:p>
          <a:p>
            <a:pPr algn="l"/>
            <a:r>
              <a:rPr lang="en-US" sz="3200" b="1" dirty="0">
                <a:solidFill>
                  <a:srgbClr val="000000"/>
                </a:solidFill>
              </a:rPr>
              <a:t>3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</a:rPr>
              <a:t>. Convert to a Time-Series Forecasting Model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Instead of treating each day independently, incorporate: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lag values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moving averages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</a:rPr>
              <a:t>volatility windows</a:t>
            </a:r>
          </a:p>
        </p:txBody>
      </p:sp>
      <p:sp>
        <p:nvSpPr>
          <p:cNvPr id="7" name="Freeform 10">
            <a:extLst>
              <a:ext uri="{FF2B5EF4-FFF2-40B4-BE49-F238E27FC236}">
                <a16:creationId xmlns:a16="http://schemas.microsoft.com/office/drawing/2014/main" id="{494B87A8-23C2-9E29-CBB9-C5BEFF116674}"/>
              </a:ext>
            </a:extLst>
          </p:cNvPr>
          <p:cNvSpPr/>
          <p:nvPr/>
        </p:nvSpPr>
        <p:spPr>
          <a:xfrm rot="4128628">
            <a:off x="13984212" y="2931204"/>
            <a:ext cx="2950826" cy="2961595"/>
          </a:xfrm>
          <a:custGeom>
            <a:avLst/>
            <a:gdLst/>
            <a:ahLst/>
            <a:cxnLst/>
            <a:rect l="l" t="t" r="r" b="b"/>
            <a:pathLst>
              <a:path w="2950826" h="2961595">
                <a:moveTo>
                  <a:pt x="0" y="0"/>
                </a:moveTo>
                <a:lnTo>
                  <a:pt x="2950825" y="0"/>
                </a:lnTo>
                <a:lnTo>
                  <a:pt x="2950825" y="2961595"/>
                </a:lnTo>
                <a:lnTo>
                  <a:pt x="0" y="296159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1527180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836</TotalTime>
  <Words>843</Words>
  <Application>Microsoft Macintosh PowerPoint</Application>
  <PresentationFormat>Custom</PresentationFormat>
  <Paragraphs>137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Baloo Bhaijaan</vt:lpstr>
      <vt:lpstr>Aptos Narrow</vt:lpstr>
      <vt:lpstr>Agrandir</vt:lpstr>
      <vt:lpstr>Arial</vt:lpstr>
      <vt:lpstr>-webkit-standard</vt:lpstr>
      <vt:lpstr>Agrandir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Shu Han Jhang</cp:lastModifiedBy>
  <cp:revision>3</cp:revision>
  <dcterms:created xsi:type="dcterms:W3CDTF">2006-08-16T00:00:00Z</dcterms:created>
  <dcterms:modified xsi:type="dcterms:W3CDTF">2025-12-07T23:46:57Z</dcterms:modified>
  <dc:identifier>DAG6uAtA4MU</dc:identifier>
</cp:coreProperties>
</file>