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4" r:id="rId3"/>
    <p:sldId id="275" r:id="rId4"/>
    <p:sldId id="258" r:id="rId5"/>
    <p:sldId id="265" r:id="rId6"/>
    <p:sldId id="260" r:id="rId7"/>
    <p:sldId id="262" r:id="rId8"/>
    <p:sldId id="276" r:id="rId9"/>
    <p:sldId id="268" r:id="rId10"/>
    <p:sldId id="263" r:id="rId11"/>
    <p:sldId id="270" r:id="rId12"/>
    <p:sldId id="257" r:id="rId13"/>
    <p:sldId id="271" r:id="rId14"/>
    <p:sldId id="273" r:id="rId15"/>
    <p:sldId id="272" r:id="rId16"/>
    <p:sldId id="278" r:id="rId17"/>
    <p:sldId id="277" r:id="rId18"/>
  </p:sldIdLst>
  <p:sldSz cx="18288000" cy="10287000"/>
  <p:notesSz cx="6858000" cy="9144000"/>
  <p:embeddedFontLst>
    <p:embeddedFont>
      <p:font typeface="Agrandir" pitchFamily="2" charset="77"/>
      <p:regular r:id="rId19"/>
    </p:embeddedFont>
    <p:embeddedFont>
      <p:font typeface="Agrandir Bold" pitchFamily="2" charset="77"/>
      <p:regular r:id="rId20"/>
      <p:bold r:id="rId21"/>
    </p:embeddedFont>
    <p:embeddedFont>
      <p:font typeface="Aptos Narrow" panose="020B0004020202020204" pitchFamily="34" charset="0"/>
      <p:regular r:id="rId22"/>
      <p:bold r:id="rId23"/>
      <p:italic r:id="rId24"/>
      <p:boldItalic r:id="rId25"/>
    </p:embeddedFont>
    <p:embeddedFont>
      <p:font typeface="Baloo Bhaijaan" panose="03080902040302020200" pitchFamily="66" charset="-78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 autoAdjust="0"/>
    <p:restoredTop sz="94684" autoAdjust="0"/>
  </p:normalViewPr>
  <p:slideViewPr>
    <p:cSldViewPr>
      <p:cViewPr varScale="1">
        <p:scale>
          <a:sx n="62" d="100"/>
          <a:sy n="62" d="100"/>
        </p:scale>
        <p:origin x="216" y="6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38707" y="2306961"/>
            <a:ext cx="7775494" cy="6423234"/>
          </a:xfrm>
          <a:custGeom>
            <a:avLst/>
            <a:gdLst/>
            <a:ahLst/>
            <a:cxnLst/>
            <a:rect l="l" t="t" r="r" b="b"/>
            <a:pathLst>
              <a:path w="7775494" h="6423234">
                <a:moveTo>
                  <a:pt x="0" y="0"/>
                </a:moveTo>
                <a:lnTo>
                  <a:pt x="7775494" y="0"/>
                </a:lnTo>
                <a:lnTo>
                  <a:pt x="7775494" y="6423234"/>
                </a:lnTo>
                <a:lnTo>
                  <a:pt x="0" y="6423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3" name="TextBox 3"/>
          <p:cNvSpPr txBox="1"/>
          <p:nvPr/>
        </p:nvSpPr>
        <p:spPr>
          <a:xfrm>
            <a:off x="413807" y="2705100"/>
            <a:ext cx="10406593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/>
            <a:r>
              <a:rPr lang="en-US" sz="8000" b="1" spc="-150" dirty="0">
                <a:solidFill>
                  <a:srgbClr val="171717"/>
                </a:solidFill>
                <a:latin typeface="Baloo Bhaijaan" panose="03080902040302020200" pitchFamily="66" charset="-78"/>
                <a:ea typeface="Agrandir Bold"/>
                <a:cs typeface="Baloo Bhaijaan" panose="03080902040302020200" pitchFamily="66" charset="-78"/>
                <a:sym typeface="Agrandir Bold"/>
              </a:rPr>
              <a:t>Economic Predictions </a:t>
            </a:r>
          </a:p>
          <a:p>
            <a:pPr marL="0" lvl="0" indent="0" algn="l"/>
            <a:r>
              <a:rPr lang="en-US" sz="8000" b="1" spc="-150" dirty="0">
                <a:solidFill>
                  <a:srgbClr val="171717"/>
                </a:solidFill>
                <a:latin typeface="Baloo Bhaijaan" panose="03080902040302020200" pitchFamily="66" charset="-78"/>
                <a:ea typeface="Agrandir Bold"/>
                <a:cs typeface="Baloo Bhaijaan" panose="03080902040302020200" pitchFamily="66" charset="-78"/>
                <a:sym typeface="Agrandir Bold"/>
              </a:rPr>
              <a:t>By Layoffs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3407" y="5829300"/>
            <a:ext cx="6556394" cy="962406"/>
            <a:chOff x="0" y="0"/>
            <a:chExt cx="1726787" cy="2534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6787" cy="253473"/>
            </a:xfrm>
            <a:custGeom>
              <a:avLst/>
              <a:gdLst/>
              <a:ahLst/>
              <a:cxnLst/>
              <a:rect l="l" t="t" r="r" b="b"/>
              <a:pathLst>
                <a:path w="1726787" h="253473">
                  <a:moveTo>
                    <a:pt x="60222" y="0"/>
                  </a:moveTo>
                  <a:lnTo>
                    <a:pt x="1666565" y="0"/>
                  </a:lnTo>
                  <a:cubicBezTo>
                    <a:pt x="1699825" y="0"/>
                    <a:pt x="1726787" y="26962"/>
                    <a:pt x="1726787" y="60222"/>
                  </a:cubicBezTo>
                  <a:lnTo>
                    <a:pt x="1726787" y="193251"/>
                  </a:lnTo>
                  <a:cubicBezTo>
                    <a:pt x="1726787" y="209223"/>
                    <a:pt x="1720442" y="224541"/>
                    <a:pt x="1709149" y="235835"/>
                  </a:cubicBezTo>
                  <a:cubicBezTo>
                    <a:pt x="1697855" y="247128"/>
                    <a:pt x="1682537" y="253473"/>
                    <a:pt x="1666565" y="253473"/>
                  </a:cubicBezTo>
                  <a:lnTo>
                    <a:pt x="60222" y="253473"/>
                  </a:lnTo>
                  <a:cubicBezTo>
                    <a:pt x="26962" y="253473"/>
                    <a:pt x="0" y="226511"/>
                    <a:pt x="0" y="193251"/>
                  </a:cubicBezTo>
                  <a:lnTo>
                    <a:pt x="0" y="60222"/>
                  </a:lnTo>
                  <a:cubicBezTo>
                    <a:pt x="0" y="26962"/>
                    <a:pt x="26962" y="0"/>
                    <a:pt x="6022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726787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276" y="5891720"/>
            <a:ext cx="6508655" cy="59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Shuhan</a:t>
            </a:r>
            <a:r>
              <a:rPr lang="en-US" sz="3399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 Jhang</a:t>
            </a:r>
          </a:p>
        </p:txBody>
      </p:sp>
      <p:sp>
        <p:nvSpPr>
          <p:cNvPr id="9" name="Freeform 9"/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10" name="TextBox 10"/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A540A3B3-3F93-E31F-9D0A-D398F6ECFDE2}"/>
              </a:ext>
            </a:extLst>
          </p:cNvPr>
          <p:cNvSpPr/>
          <p:nvPr/>
        </p:nvSpPr>
        <p:spPr>
          <a:xfrm flipH="1">
            <a:off x="401626" y="5114585"/>
            <a:ext cx="5847602" cy="4393150"/>
          </a:xfrm>
          <a:custGeom>
            <a:avLst/>
            <a:gdLst/>
            <a:ahLst/>
            <a:cxnLst/>
            <a:rect l="l" t="t" r="r" b="b"/>
            <a:pathLst>
              <a:path w="8831700" h="6563831">
                <a:moveTo>
                  <a:pt x="8831700" y="0"/>
                </a:moveTo>
                <a:lnTo>
                  <a:pt x="0" y="0"/>
                </a:lnTo>
                <a:lnTo>
                  <a:pt x="0" y="6563831"/>
                </a:lnTo>
                <a:lnTo>
                  <a:pt x="8831700" y="6563831"/>
                </a:lnTo>
                <a:lnTo>
                  <a:pt x="88317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 dirty="0"/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90792CD1-DF1C-301C-03BC-64F694422922}"/>
              </a:ext>
            </a:extLst>
          </p:cNvPr>
          <p:cNvSpPr txBox="1"/>
          <p:nvPr/>
        </p:nvSpPr>
        <p:spPr>
          <a:xfrm>
            <a:off x="401626" y="559195"/>
            <a:ext cx="11907419" cy="1327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799"/>
              </a:lnSpc>
            </a:pPr>
            <a:r>
              <a:rPr lang="en-US" sz="9999" b="1" spc="-150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41B3DF-22C3-3CA7-E2F4-D1A595A241D7}"/>
              </a:ext>
            </a:extLst>
          </p:cNvPr>
          <p:cNvSpPr txBox="1"/>
          <p:nvPr/>
        </p:nvSpPr>
        <p:spPr>
          <a:xfrm>
            <a:off x="6383044" y="2388900"/>
            <a:ext cx="1099055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</a:rPr>
              <a:t>Global layoffs surged during and after COVID-19, impacting economic stability.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</a:rPr>
              <a:t>Companies, investors, and policymakers need early signals of market downturn or recovery.</a:t>
            </a:r>
          </a:p>
          <a:p>
            <a:pPr algn="l"/>
            <a:endParaRPr lang="en-US" sz="3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Problem:</a:t>
            </a:r>
            <a:endParaRPr lang="en-US" sz="3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</a:rPr>
              <a:t>Can layoff data predict movements in major U.S. financial indices such as 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VIX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S&amp;P 500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</a:rPr>
              <a:t>, and 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Dow Jones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06306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952B121C-9A9F-19F6-587C-E2C7DFC40D3C}"/>
              </a:ext>
            </a:extLst>
          </p:cNvPr>
          <p:cNvSpPr/>
          <p:nvPr/>
        </p:nvSpPr>
        <p:spPr>
          <a:xfrm>
            <a:off x="9144000" y="4000500"/>
            <a:ext cx="7752180" cy="4844509"/>
          </a:xfrm>
          <a:custGeom>
            <a:avLst/>
            <a:gdLst/>
            <a:ahLst/>
            <a:cxnLst/>
            <a:rect l="l" t="t" r="r" b="b"/>
            <a:pathLst>
              <a:path w="11733517" h="7527379">
                <a:moveTo>
                  <a:pt x="0" y="0"/>
                </a:moveTo>
                <a:lnTo>
                  <a:pt x="11733518" y="0"/>
                </a:lnTo>
                <a:lnTo>
                  <a:pt x="11733518" y="7527379"/>
                </a:lnTo>
                <a:lnTo>
                  <a:pt x="0" y="7527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D20AD2C2-D464-D764-727E-D6BF88A047DB}"/>
              </a:ext>
            </a:extLst>
          </p:cNvPr>
          <p:cNvSpPr/>
          <p:nvPr/>
        </p:nvSpPr>
        <p:spPr>
          <a:xfrm rot="4128628">
            <a:off x="5467762" y="5711031"/>
            <a:ext cx="2950826" cy="2961595"/>
          </a:xfrm>
          <a:custGeom>
            <a:avLst/>
            <a:gdLst/>
            <a:ahLst/>
            <a:cxnLst/>
            <a:rect l="l" t="t" r="r" b="b"/>
            <a:pathLst>
              <a:path w="2950826" h="2961595">
                <a:moveTo>
                  <a:pt x="0" y="0"/>
                </a:moveTo>
                <a:lnTo>
                  <a:pt x="2950825" y="0"/>
                </a:lnTo>
                <a:lnTo>
                  <a:pt x="2950825" y="2961595"/>
                </a:lnTo>
                <a:lnTo>
                  <a:pt x="0" y="296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40AB484-838A-2034-D8F7-7B1419F791CF}"/>
              </a:ext>
            </a:extLst>
          </p:cNvPr>
          <p:cNvSpPr txBox="1"/>
          <p:nvPr/>
        </p:nvSpPr>
        <p:spPr>
          <a:xfrm>
            <a:off x="838200" y="1441991"/>
            <a:ext cx="10135735" cy="3840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799"/>
              </a:lnSpc>
            </a:pPr>
            <a:r>
              <a:rPr lang="en-US" sz="9999" b="1" spc="-150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Solution: </a:t>
            </a:r>
            <a:r>
              <a:rPr lang="en-US" sz="9999" b="1" spc="-150" dirty="0">
                <a:solidFill>
                  <a:srgbClr val="171717"/>
                </a:solidFill>
                <a:latin typeface="Agrandir Bold"/>
              </a:rPr>
              <a:t>Decision Tree Model </a:t>
            </a:r>
            <a:endParaRPr lang="en-US" sz="9999" b="1" spc="-150" dirty="0">
              <a:solidFill>
                <a:srgbClr val="171717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  <p:extLst>
      <p:ext uri="{BB962C8B-B14F-4D97-AF65-F5344CB8AC3E}">
        <p14:creationId xmlns:p14="http://schemas.microsoft.com/office/powerpoint/2010/main" val="1380344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flipH="1">
            <a:off x="401626" y="5981699"/>
            <a:ext cx="4017974" cy="3526035"/>
          </a:xfrm>
          <a:custGeom>
            <a:avLst/>
            <a:gdLst/>
            <a:ahLst/>
            <a:cxnLst/>
            <a:rect l="l" t="t" r="r" b="b"/>
            <a:pathLst>
              <a:path w="8831700" h="6563831">
                <a:moveTo>
                  <a:pt x="8831700" y="0"/>
                </a:moveTo>
                <a:lnTo>
                  <a:pt x="0" y="0"/>
                </a:lnTo>
                <a:lnTo>
                  <a:pt x="0" y="6563831"/>
                </a:lnTo>
                <a:lnTo>
                  <a:pt x="8831700" y="6563831"/>
                </a:lnTo>
                <a:lnTo>
                  <a:pt x="88317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 dirty="0"/>
          </a:p>
        </p:txBody>
      </p:sp>
      <p:sp>
        <p:nvSpPr>
          <p:cNvPr id="9" name="TextBox 9"/>
          <p:cNvSpPr txBox="1"/>
          <p:nvPr/>
        </p:nvSpPr>
        <p:spPr>
          <a:xfrm>
            <a:off x="401626" y="559195"/>
            <a:ext cx="11907419" cy="1327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799"/>
              </a:lnSpc>
            </a:pPr>
            <a:r>
              <a:rPr lang="en-US" sz="9999" b="1" spc="-649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 &amp; Feature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38601" y="2933700"/>
            <a:ext cx="6248400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Datasets Used</a:t>
            </a:r>
            <a:endParaRPr lang="en-US" sz="32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World Layoff Dataset (2020–2023)</a:t>
            </a:r>
            <a:endParaRPr lang="en-US" sz="32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Percentage laid off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Company, industry, country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Layoff Index</a:t>
            </a:r>
          </a:p>
          <a:p>
            <a:pPr algn="l">
              <a:buFont typeface="+mj-lt"/>
              <a:buAutoNum type="arabicPeriod"/>
            </a:pP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Financial Datasets</a:t>
            </a:r>
            <a:endParaRPr lang="en-US" sz="32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VIX Index (fear index)</a:t>
            </a:r>
            <a:endParaRPr lang="en-US" sz="32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S&amp;P 500 values</a:t>
            </a:r>
            <a:endParaRPr lang="en-US" sz="32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Dow Jones values</a:t>
            </a:r>
            <a:endParaRPr lang="en-US" sz="32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CFB8D6-0DB8-9DCD-35DB-AF5A4574EBA1}"/>
              </a:ext>
            </a:extLst>
          </p:cNvPr>
          <p:cNvSpPr txBox="1"/>
          <p:nvPr/>
        </p:nvSpPr>
        <p:spPr>
          <a:xfrm>
            <a:off x="10647375" y="2933700"/>
            <a:ext cx="72596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Feature Engineering</a:t>
            </a:r>
            <a:endParaRPr lang="en-US" sz="32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Extracted </a:t>
            </a: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year, month, day</a:t>
            </a:r>
            <a:endParaRPr lang="en-US" sz="32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One-hot encoding for categorical features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Source from : Kaggle / </a:t>
            </a:r>
            <a:r>
              <a:rPr lang="en-US" sz="320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Layoffs.fyi</a:t>
            </a:r>
            <a:r>
              <a:rPr lang="en-US" sz="32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/Yahoo Finance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1023407" y="488692"/>
            <a:ext cx="9263593" cy="2583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9999" b="1" spc="-150" dirty="0">
                <a:solidFill>
                  <a:srgbClr val="171717"/>
                </a:solidFill>
                <a:latin typeface="Agrandir Bold"/>
              </a:rPr>
              <a:t>Data Cleaning &amp; Alignment</a:t>
            </a:r>
            <a:endParaRPr lang="en-US" sz="9999" b="1" spc="-150" dirty="0">
              <a:solidFill>
                <a:srgbClr val="171717"/>
              </a:solidFill>
              <a:latin typeface="Agrandir Bold"/>
              <a:sym typeface="Agrandi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5818" y="3771900"/>
            <a:ext cx="13181581" cy="3528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0100" lvl="1" indent="-3429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Selected Only Relevant Columns</a:t>
            </a:r>
          </a:p>
          <a:p>
            <a:pPr marL="800100" lvl="1" indent="-3429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Converted All Date Columns to a Standard Datetime Format</a:t>
            </a:r>
          </a:p>
          <a:p>
            <a:pPr marL="800100" lvl="1" indent="-3429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Filtered All Datasets into the Same Time Range</a:t>
            </a:r>
          </a:p>
          <a:p>
            <a:pPr marL="800100" lvl="1" indent="-3429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Sorted All Datasets by Date</a:t>
            </a:r>
          </a:p>
          <a:p>
            <a:pPr marL="800100" lvl="1" indent="-3429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Standardized Column Names for Merging</a:t>
            </a:r>
          </a:p>
          <a:p>
            <a:pPr marL="800100" lvl="1" indent="-3429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Performed Left Joins to Merge All Datasets Together</a:t>
            </a:r>
            <a:endParaRPr lang="en-US" sz="4000" dirty="0">
              <a:solidFill>
                <a:srgbClr val="000000"/>
              </a:solidFill>
              <a:latin typeface="-webkit-standard"/>
            </a:endParaRPr>
          </a:p>
          <a:p>
            <a:pPr marL="800100" lvl="1" indent="-3429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Removed Rows With Missing Key Values</a:t>
            </a:r>
          </a:p>
          <a:p>
            <a:pPr marL="800100" lvl="1" indent="-3429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Created Features From Raw Data(</a:t>
            </a:r>
            <a:r>
              <a:rPr lang="en-US" sz="4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ex:Layoff</a:t>
            </a: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Index)</a:t>
            </a:r>
            <a:endParaRPr lang="en-US" sz="4000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2209166" y="5511920"/>
            <a:ext cx="5745307" cy="4271707"/>
          </a:xfrm>
          <a:custGeom>
            <a:avLst/>
            <a:gdLst/>
            <a:ahLst/>
            <a:cxnLst/>
            <a:rect l="l" t="t" r="r" b="b"/>
            <a:pathLst>
              <a:path w="8391908" h="6112139">
                <a:moveTo>
                  <a:pt x="0" y="0"/>
                </a:moveTo>
                <a:lnTo>
                  <a:pt x="8391908" y="0"/>
                </a:lnTo>
                <a:lnTo>
                  <a:pt x="8391908" y="6112140"/>
                </a:lnTo>
                <a:lnTo>
                  <a:pt x="0" y="61121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75A4F3F5-241F-E85A-222F-51C4CC73FFB6}"/>
              </a:ext>
            </a:extLst>
          </p:cNvPr>
          <p:cNvSpPr/>
          <p:nvPr/>
        </p:nvSpPr>
        <p:spPr>
          <a:xfrm rot="16847185">
            <a:off x="14058424" y="2798376"/>
            <a:ext cx="2950826" cy="2961595"/>
          </a:xfrm>
          <a:custGeom>
            <a:avLst/>
            <a:gdLst/>
            <a:ahLst/>
            <a:cxnLst/>
            <a:rect l="l" t="t" r="r" b="b"/>
            <a:pathLst>
              <a:path w="2950826" h="2961595">
                <a:moveTo>
                  <a:pt x="0" y="0"/>
                </a:moveTo>
                <a:lnTo>
                  <a:pt x="2950826" y="0"/>
                </a:lnTo>
                <a:lnTo>
                  <a:pt x="2950826" y="2961595"/>
                </a:lnTo>
                <a:lnTo>
                  <a:pt x="0" y="296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9678" y="3643516"/>
            <a:ext cx="7371463" cy="6158994"/>
          </a:xfrm>
          <a:custGeom>
            <a:avLst/>
            <a:gdLst/>
            <a:ahLst/>
            <a:cxnLst/>
            <a:rect l="l" t="t" r="r" b="b"/>
            <a:pathLst>
              <a:path w="7371463" h="6158994">
                <a:moveTo>
                  <a:pt x="0" y="0"/>
                </a:moveTo>
                <a:lnTo>
                  <a:pt x="7371463" y="0"/>
                </a:lnTo>
                <a:lnTo>
                  <a:pt x="7371463" y="6158993"/>
                </a:lnTo>
                <a:lnTo>
                  <a:pt x="0" y="6158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8" name="TextBox 8"/>
          <p:cNvSpPr txBox="1"/>
          <p:nvPr/>
        </p:nvSpPr>
        <p:spPr>
          <a:xfrm>
            <a:off x="8001000" y="2308268"/>
            <a:ext cx="8689280" cy="461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just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+mj-lt"/>
              </a:rPr>
              <a:t>D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+mj-lt"/>
              </a:rPr>
              <a:t>efines a </a:t>
            </a:r>
            <a:r>
              <a:rPr lang="en-US" sz="3600" b="0" i="1" u="none" strike="noStrike" dirty="0">
                <a:solidFill>
                  <a:srgbClr val="000000"/>
                </a:solidFill>
                <a:effectLst/>
                <a:latin typeface="+mj-lt"/>
              </a:rPr>
              <a:t>binary target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+mj-lt"/>
              </a:rPr>
              <a:t> </a:t>
            </a:r>
            <a:r>
              <a:rPr lang="en-US" sz="3600" dirty="0">
                <a:solidFill>
                  <a:srgbClr val="000000"/>
                </a:solidFill>
                <a:latin typeface="+mj-lt"/>
              </a:rPr>
              <a:t>: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+mj-lt"/>
              </a:rPr>
              <a:t> </a:t>
            </a:r>
            <a:endParaRPr lang="en-US" sz="3600" dirty="0">
              <a:solidFill>
                <a:srgbClr val="171717"/>
              </a:solidFill>
              <a:latin typeface="+mj-lt"/>
              <a:ea typeface="Agrandir"/>
              <a:cs typeface="Agrandir"/>
              <a:sym typeface="Agrandi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678" y="484490"/>
            <a:ext cx="11907419" cy="1327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799"/>
              </a:lnSpc>
            </a:pPr>
            <a:r>
              <a:rPr lang="en-US" sz="9999" b="1" spc="-649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spc="-150" dirty="0">
                <a:solidFill>
                  <a:srgbClr val="171717"/>
                </a:solidFill>
                <a:latin typeface="Agrandir Bold"/>
              </a:rPr>
              <a:t>MODEL TRAINING &amp; Evaluation</a:t>
            </a:r>
            <a:endParaRPr lang="en-US" sz="6000" b="1" spc="-150" dirty="0">
              <a:solidFill>
                <a:srgbClr val="171717"/>
              </a:solidFill>
              <a:latin typeface="Agrandir Bold"/>
              <a:sym typeface="Agrandir Bold"/>
            </a:endParaRPr>
          </a:p>
        </p:txBody>
      </p:sp>
      <p:sp>
        <p:nvSpPr>
          <p:cNvPr id="10" name="Freeform 10"/>
          <p:cNvSpPr/>
          <p:nvPr/>
        </p:nvSpPr>
        <p:spPr>
          <a:xfrm rot="4128628">
            <a:off x="14154562" y="7326204"/>
            <a:ext cx="2950826" cy="2961595"/>
          </a:xfrm>
          <a:custGeom>
            <a:avLst/>
            <a:gdLst/>
            <a:ahLst/>
            <a:cxnLst/>
            <a:rect l="l" t="t" r="r" b="b"/>
            <a:pathLst>
              <a:path w="2950826" h="2961595">
                <a:moveTo>
                  <a:pt x="0" y="0"/>
                </a:moveTo>
                <a:lnTo>
                  <a:pt x="2950825" y="0"/>
                </a:lnTo>
                <a:lnTo>
                  <a:pt x="2950825" y="2961595"/>
                </a:lnTo>
                <a:lnTo>
                  <a:pt x="0" y="296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E667DE6-3177-81EC-A9CB-F11B029E6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918013"/>
              </p:ext>
            </p:extLst>
          </p:nvPr>
        </p:nvGraphicFramePr>
        <p:xfrm>
          <a:off x="8000999" y="2973116"/>
          <a:ext cx="8689280" cy="415158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819401">
                  <a:extLst>
                    <a:ext uri="{9D8B030D-6E8A-4147-A177-3AD203B41FA5}">
                      <a16:colId xmlns:a16="http://schemas.microsoft.com/office/drawing/2014/main" val="481164039"/>
                    </a:ext>
                  </a:extLst>
                </a:gridCol>
                <a:gridCol w="5869879">
                  <a:extLst>
                    <a:ext uri="{9D8B030D-6E8A-4147-A177-3AD203B41FA5}">
                      <a16:colId xmlns:a16="http://schemas.microsoft.com/office/drawing/2014/main" val="658910173"/>
                    </a:ext>
                  </a:extLst>
                </a:gridCol>
              </a:tblGrid>
              <a:tr h="73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Column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Meaning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244369"/>
                  </a:ext>
                </a:extLst>
              </a:tr>
              <a:tr h="9742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SP5_Up = 1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S&amp;P 500 moved UP from previous day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4216663"/>
                  </a:ext>
                </a:extLst>
              </a:tr>
              <a:tr h="73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SP5_Up = 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S&amp;P 500 moved DOWN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453248"/>
                  </a:ext>
                </a:extLst>
              </a:tr>
              <a:tr h="73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DJ_Up = 1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Dow Jones moved UP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129849"/>
                  </a:ext>
                </a:extLst>
              </a:tr>
              <a:tr h="9742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VIX_Up = 1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VIX Fear Index increased (higher fear)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9320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8590802" y="2915154"/>
            <a:ext cx="8980225" cy="5245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Decision Tree Classifier:</a:t>
            </a:r>
            <a:br>
              <a:rPr lang="en-US" sz="3600" dirty="0"/>
            </a:b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 decision tree is chosen because it naturally handles 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mixed feature types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(numeric fields, and categorical fields)</a:t>
            </a:r>
          </a:p>
          <a:p>
            <a:pPr marL="571500" indent="-5715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00000"/>
              </a:solidFill>
              <a:latin typeface="-webkit-standard"/>
            </a:endParaRPr>
          </a:p>
          <a:p>
            <a:pPr marL="571500" indent="-5715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Split train and test sets: 80% training 20% testing</a:t>
            </a:r>
          </a:p>
          <a:p>
            <a:pPr>
              <a:lnSpc>
                <a:spcPts val="3360"/>
              </a:lnSpc>
              <a:spcBef>
                <a:spcPct val="0"/>
              </a:spcBef>
            </a:pPr>
            <a:endParaRPr lang="en-US" sz="36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marL="571500" indent="-5715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sym typeface="Agrandir"/>
              </a:rPr>
              <a:t>Using </a:t>
            </a:r>
            <a:r>
              <a:rPr lang="en-US" sz="3600" b="1" dirty="0" err="1">
                <a:solidFill>
                  <a:srgbClr val="000000"/>
                </a:solidFill>
                <a:sym typeface="Agrandir"/>
              </a:rPr>
              <a:t>Layoff_Index</a:t>
            </a:r>
            <a:r>
              <a:rPr lang="en-US" sz="3600" b="1" dirty="0">
                <a:solidFill>
                  <a:srgbClr val="000000"/>
                </a:solidFill>
                <a:sym typeface="Agrandir"/>
              </a:rPr>
              <a:t> to predict </a:t>
            </a:r>
            <a:r>
              <a:rPr lang="en-US" sz="3600" b="1" dirty="0">
                <a:solidFill>
                  <a:srgbClr val="000000"/>
                </a:solidFill>
                <a:sym typeface="Agrandir Bold"/>
              </a:rPr>
              <a:t>Economic Index  (daily)</a:t>
            </a:r>
            <a:br>
              <a:rPr lang="en-US" sz="3600" dirty="0"/>
            </a:br>
            <a:endParaRPr lang="en-US" sz="36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>
              <a:lnSpc>
                <a:spcPts val="3360"/>
              </a:lnSpc>
              <a:spcBef>
                <a:spcPct val="0"/>
              </a:spcBef>
            </a:pPr>
            <a:endParaRPr lang="en-US" sz="36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67145" y="983265"/>
            <a:ext cx="17183100" cy="132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9999" b="1" spc="-150" dirty="0">
                <a:solidFill>
                  <a:srgbClr val="171717"/>
                </a:solidFill>
                <a:latin typeface="Agrandir Bold"/>
              </a:rPr>
              <a:t>Train a Decision Tree Model</a:t>
            </a:r>
            <a:endParaRPr lang="en-US" sz="9999" b="1" spc="-150" dirty="0">
              <a:solidFill>
                <a:srgbClr val="171717"/>
              </a:solidFill>
              <a:latin typeface="Agrandir Bold"/>
              <a:sym typeface="Agrandir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332509" y="3695700"/>
            <a:ext cx="7752180" cy="4844509"/>
          </a:xfrm>
          <a:custGeom>
            <a:avLst/>
            <a:gdLst/>
            <a:ahLst/>
            <a:cxnLst/>
            <a:rect l="l" t="t" r="r" b="b"/>
            <a:pathLst>
              <a:path w="11733517" h="7527379">
                <a:moveTo>
                  <a:pt x="0" y="0"/>
                </a:moveTo>
                <a:lnTo>
                  <a:pt x="11733518" y="0"/>
                </a:lnTo>
                <a:lnTo>
                  <a:pt x="11733518" y="7527379"/>
                </a:lnTo>
                <a:lnTo>
                  <a:pt x="0" y="7527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952B121C-9A9F-19F6-587C-E2C7DFC40D3C}"/>
              </a:ext>
            </a:extLst>
          </p:cNvPr>
          <p:cNvSpPr/>
          <p:nvPr/>
        </p:nvSpPr>
        <p:spPr>
          <a:xfrm>
            <a:off x="9144000" y="4000500"/>
            <a:ext cx="7752180" cy="4844509"/>
          </a:xfrm>
          <a:custGeom>
            <a:avLst/>
            <a:gdLst/>
            <a:ahLst/>
            <a:cxnLst/>
            <a:rect l="l" t="t" r="r" b="b"/>
            <a:pathLst>
              <a:path w="11733517" h="7527379">
                <a:moveTo>
                  <a:pt x="0" y="0"/>
                </a:moveTo>
                <a:lnTo>
                  <a:pt x="11733518" y="0"/>
                </a:lnTo>
                <a:lnTo>
                  <a:pt x="11733518" y="7527379"/>
                </a:lnTo>
                <a:lnTo>
                  <a:pt x="0" y="7527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D20AD2C2-D464-D764-727E-D6BF88A047DB}"/>
              </a:ext>
            </a:extLst>
          </p:cNvPr>
          <p:cNvSpPr/>
          <p:nvPr/>
        </p:nvSpPr>
        <p:spPr>
          <a:xfrm rot="4128628">
            <a:off x="5467762" y="5711031"/>
            <a:ext cx="2950826" cy="2961595"/>
          </a:xfrm>
          <a:custGeom>
            <a:avLst/>
            <a:gdLst/>
            <a:ahLst/>
            <a:cxnLst/>
            <a:rect l="l" t="t" r="r" b="b"/>
            <a:pathLst>
              <a:path w="2950826" h="2961595">
                <a:moveTo>
                  <a:pt x="0" y="0"/>
                </a:moveTo>
                <a:lnTo>
                  <a:pt x="2950825" y="0"/>
                </a:lnTo>
                <a:lnTo>
                  <a:pt x="2950825" y="2961595"/>
                </a:lnTo>
                <a:lnTo>
                  <a:pt x="0" y="296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40AB484-838A-2034-D8F7-7B1419F791CF}"/>
              </a:ext>
            </a:extLst>
          </p:cNvPr>
          <p:cNvSpPr txBox="1"/>
          <p:nvPr/>
        </p:nvSpPr>
        <p:spPr>
          <a:xfrm>
            <a:off x="2057400" y="3953704"/>
            <a:ext cx="10135735" cy="132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799"/>
              </a:lnSpc>
            </a:pPr>
            <a:r>
              <a:rPr lang="en-US" sz="9999" b="1" spc="-150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91810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8">
            <a:extLst>
              <a:ext uri="{FF2B5EF4-FFF2-40B4-BE49-F238E27FC236}">
                <a16:creationId xmlns:a16="http://schemas.microsoft.com/office/drawing/2014/main" id="{F78D8BFF-218E-1D77-5AF7-F5CB21356745}"/>
              </a:ext>
            </a:extLst>
          </p:cNvPr>
          <p:cNvSpPr txBox="1"/>
          <p:nvPr/>
        </p:nvSpPr>
        <p:spPr>
          <a:xfrm>
            <a:off x="561109" y="357322"/>
            <a:ext cx="16725901" cy="1211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7200" b="1" spc="-150" dirty="0">
                <a:solidFill>
                  <a:srgbClr val="171717"/>
                </a:solidFill>
                <a:latin typeface="Agrandir Bold"/>
              </a:rPr>
              <a:t>Accuracy: </a:t>
            </a:r>
            <a:r>
              <a:rPr lang="en-US" sz="7200" b="1" i="0" u="none" strike="noStrike" dirty="0">
                <a:solidFill>
                  <a:srgbClr val="000000"/>
                </a:solidFill>
                <a:effectLst/>
              </a:rPr>
              <a:t>S&amp;P 500 index increased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US" sz="72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 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81FA53BB-F0A0-F7F8-D9A1-4D9346F539DC}"/>
              </a:ext>
            </a:extLst>
          </p:cNvPr>
          <p:cNvSpPr txBox="1"/>
          <p:nvPr/>
        </p:nvSpPr>
        <p:spPr>
          <a:xfrm>
            <a:off x="914400" y="1703258"/>
            <a:ext cx="17030701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 </a:t>
            </a:r>
            <a:r>
              <a:rPr lang="en-US" sz="4000" b="1" i="0" u="none" strike="noStrike" dirty="0">
                <a:solidFill>
                  <a:srgbClr val="000000"/>
                </a:solidFill>
                <a:effectLst/>
              </a:rPr>
              <a:t>S&amp;P 500 index increased</a:t>
            </a: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compared to the previous day.)</a:t>
            </a:r>
          </a:p>
          <a:p>
            <a:pPr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Using </a:t>
            </a:r>
            <a:r>
              <a:rPr lang="en-US" sz="4000" b="1" dirty="0" err="1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Layoff_Index</a:t>
            </a:r>
            <a:r>
              <a:rPr lang="en-US" sz="4000" b="1" dirty="0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to predict </a:t>
            </a:r>
            <a:r>
              <a:rPr lang="en-US" sz="4000" b="1" i="0" u="none" strike="noStrike" dirty="0">
                <a:solidFill>
                  <a:srgbClr val="000000"/>
                </a:solidFill>
                <a:effectLst/>
              </a:rPr>
              <a:t>S&amp;P 500 index increased</a:t>
            </a: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US" sz="40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 </a:t>
            </a:r>
            <a:endParaRPr lang="en-US" sz="4000" dirty="0">
              <a:solidFill>
                <a:srgbClr val="000000"/>
              </a:solidFill>
              <a:latin typeface="-webkit-standard"/>
              <a:ea typeface="Agrandir"/>
              <a:cs typeface="Agrandir"/>
              <a:sym typeface="Agrandir"/>
            </a:endParaRPr>
          </a:p>
          <a:p>
            <a:pPr marL="571500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dirty="0"/>
              <a:t>Accuracy for SP5_Up: 0.8762, </a:t>
            </a:r>
            <a:r>
              <a:rPr lang="en-US" sz="4000" b="1" i="0" u="none" strike="noStrike" dirty="0">
                <a:solidFill>
                  <a:srgbClr val="000000"/>
                </a:solidFill>
                <a:effectLst/>
              </a:rPr>
              <a:t>87.6% accuracy</a:t>
            </a:r>
          </a:p>
        </p:txBody>
      </p:sp>
      <p:pic>
        <p:nvPicPr>
          <p:cNvPr id="22" name="Picture 21" descr="A graph with blue lines and orange dots&#10;&#10;Description automatically generated">
            <a:extLst>
              <a:ext uri="{FF2B5EF4-FFF2-40B4-BE49-F238E27FC236}">
                <a16:creationId xmlns:a16="http://schemas.microsoft.com/office/drawing/2014/main" id="{66706A02-1329-841B-D0C6-FE31DB88D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3231"/>
            <a:ext cx="11330426" cy="5303269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4A7CED1D-4D5D-F4B5-FAAA-8553E313A6FF}"/>
              </a:ext>
            </a:extLst>
          </p:cNvPr>
          <p:cNvSpPr/>
          <p:nvPr/>
        </p:nvSpPr>
        <p:spPr>
          <a:xfrm>
            <a:off x="3581400" y="5143500"/>
            <a:ext cx="2362200" cy="45638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0428BFE-B07B-348A-8AEC-01A4B36D41BD}"/>
              </a:ext>
            </a:extLst>
          </p:cNvPr>
          <p:cNvSpPr/>
          <p:nvPr/>
        </p:nvSpPr>
        <p:spPr>
          <a:xfrm>
            <a:off x="7696199" y="5223164"/>
            <a:ext cx="1676402" cy="45638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EAAEF1-1B65-ACB9-432D-897D805D1438}"/>
              </a:ext>
            </a:extLst>
          </p:cNvPr>
          <p:cNvSpPr/>
          <p:nvPr/>
        </p:nvSpPr>
        <p:spPr>
          <a:xfrm>
            <a:off x="9525000" y="5143501"/>
            <a:ext cx="2057400" cy="46516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1F1829-86B5-FFEE-B553-F1F998CBCDFF}"/>
              </a:ext>
            </a:extLst>
          </p:cNvPr>
          <p:cNvSpPr/>
          <p:nvPr/>
        </p:nvSpPr>
        <p:spPr>
          <a:xfrm>
            <a:off x="8965623" y="3669243"/>
            <a:ext cx="7419108" cy="8660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False Positives (FP)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= predicted Up, actual Down</a:t>
            </a:r>
            <a:endParaRPr lang="en-TW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61109" y="357322"/>
            <a:ext cx="17726891" cy="1211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72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Confusion Matrix: </a:t>
            </a:r>
            <a:r>
              <a:rPr lang="en-US" sz="7200" b="1" i="0" u="none" strike="noStrike" dirty="0">
                <a:solidFill>
                  <a:srgbClr val="000000"/>
                </a:solidFill>
                <a:effectLst/>
              </a:rPr>
              <a:t>S&amp;P 500 index increased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US" sz="72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5745" y="1568807"/>
            <a:ext cx="1742209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/>
              <a:t>MODEL of for SP5_Up (</a:t>
            </a: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 </a:t>
            </a:r>
            <a:r>
              <a:rPr lang="en-US" sz="4000" b="1" i="0" u="none" strike="noStrike" dirty="0">
                <a:solidFill>
                  <a:srgbClr val="000000"/>
                </a:solidFill>
                <a:effectLst/>
              </a:rPr>
              <a:t>S&amp;P 500 index increased</a:t>
            </a: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compared to the previous day.)</a:t>
            </a:r>
            <a:endParaRPr lang="en-US" sz="4000" dirty="0">
              <a:solidFill>
                <a:srgbClr val="000000"/>
              </a:solidFill>
              <a:latin typeface="-webkit-standard"/>
              <a:ea typeface="Agrandir"/>
              <a:cs typeface="Agrandir"/>
              <a:sym typeface="Agrandir"/>
            </a:endParaRPr>
          </a:p>
        </p:txBody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DE35FDDA-73F0-F1BF-C819-4A930AB9052C}"/>
              </a:ext>
            </a:extLst>
          </p:cNvPr>
          <p:cNvSpPr/>
          <p:nvPr/>
        </p:nvSpPr>
        <p:spPr>
          <a:xfrm rot="4382172">
            <a:off x="15212051" y="2505597"/>
            <a:ext cx="2744400" cy="2725354"/>
          </a:xfrm>
          <a:custGeom>
            <a:avLst/>
            <a:gdLst/>
            <a:ahLst/>
            <a:cxnLst/>
            <a:rect l="l" t="t" r="r" b="b"/>
            <a:pathLst>
              <a:path w="2950826" h="2961595">
                <a:moveTo>
                  <a:pt x="0" y="0"/>
                </a:moveTo>
                <a:lnTo>
                  <a:pt x="2950826" y="0"/>
                </a:lnTo>
                <a:lnTo>
                  <a:pt x="2950826" y="2961595"/>
                </a:lnTo>
                <a:lnTo>
                  <a:pt x="0" y="2961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pic>
        <p:nvPicPr>
          <p:cNvPr id="31" name="Picture 30" descr="A diagram of a confused matrix&#10;&#10;Description automatically generated">
            <a:extLst>
              <a:ext uri="{FF2B5EF4-FFF2-40B4-BE49-F238E27FC236}">
                <a16:creationId xmlns:a16="http://schemas.microsoft.com/office/drawing/2014/main" id="{E4E94339-A39E-69D3-8304-83719AE9F0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324100"/>
            <a:ext cx="8839200" cy="789473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EA86D09-0219-27D1-1620-D55C4C135734}"/>
              </a:ext>
            </a:extLst>
          </p:cNvPr>
          <p:cNvSpPr txBox="1"/>
          <p:nvPr/>
        </p:nvSpPr>
        <p:spPr>
          <a:xfrm>
            <a:off x="6781800" y="5143500"/>
            <a:ext cx="3484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True Negatives (TN) </a:t>
            </a:r>
            <a:endParaRPr lang="en-TW" sz="3200" dirty="0">
              <a:highlight>
                <a:srgbClr val="FFFF00"/>
              </a:highligh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DA56AC-5C7A-9A69-803C-7E574429D3D4}"/>
              </a:ext>
            </a:extLst>
          </p:cNvPr>
          <p:cNvSpPr txBox="1"/>
          <p:nvPr/>
        </p:nvSpPr>
        <p:spPr>
          <a:xfrm>
            <a:off x="10058400" y="6743700"/>
            <a:ext cx="3484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True Positives (TP)</a:t>
            </a:r>
            <a:endParaRPr lang="en-TW" sz="3200" dirty="0"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32E337-19E9-68B3-9174-31F596AD59CF}"/>
              </a:ext>
            </a:extLst>
          </p:cNvPr>
          <p:cNvSpPr txBox="1"/>
          <p:nvPr/>
        </p:nvSpPr>
        <p:spPr>
          <a:xfrm>
            <a:off x="10058400" y="4611259"/>
            <a:ext cx="3484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</a:rPr>
              <a:t>False Positives (FP)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-webkit-standard"/>
              </a:rPr>
              <a:t> </a:t>
            </a:r>
            <a:endParaRPr lang="en-TW" sz="3200" dirty="0">
              <a:highlight>
                <a:srgbClr val="00FF00"/>
              </a:highligh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E0F289-6812-AD1F-14EA-DD91F76754BB}"/>
              </a:ext>
            </a:extLst>
          </p:cNvPr>
          <p:cNvSpPr txBox="1"/>
          <p:nvPr/>
        </p:nvSpPr>
        <p:spPr>
          <a:xfrm>
            <a:off x="6686550" y="8255287"/>
            <a:ext cx="37182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-webkit-standard"/>
              </a:rPr>
              <a:t>False Negatives (FN)</a:t>
            </a:r>
            <a:endParaRPr lang="en-TW" sz="3200" dirty="0">
              <a:highlight>
                <a:srgbClr val="00FF00"/>
              </a:highligh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EC77B3-C246-5AF5-6699-3CF407BCA118}"/>
              </a:ext>
            </a:extLst>
          </p:cNvPr>
          <p:cNvSpPr txBox="1"/>
          <p:nvPr/>
        </p:nvSpPr>
        <p:spPr>
          <a:xfrm>
            <a:off x="0" y="3839416"/>
            <a:ext cx="546561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800" b="0" i="0" u="none" strike="noStrike" dirty="0">
              <a:solidFill>
                <a:srgbClr val="000000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True Positives (TP)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= model predicted Up, actual Up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True Negatives (TN)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= model predicted Down, actual Down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False Positives (FP)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= predicted Up, actual Down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False Negatives (FN)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= predicted Down, actual 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61109" y="357322"/>
            <a:ext cx="17726891" cy="1211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72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Model error(39): </a:t>
            </a:r>
            <a:r>
              <a:rPr lang="en-US" sz="7200" b="1" i="0" u="none" strike="noStrike" dirty="0">
                <a:solidFill>
                  <a:srgbClr val="000000"/>
                </a:solidFill>
                <a:effectLst/>
              </a:rPr>
              <a:t>S&amp;P 500 index increased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US" sz="72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1109" y="1527151"/>
            <a:ext cx="1742209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/>
              <a:t>MODEL of for SP5_Up (</a:t>
            </a: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 </a:t>
            </a:r>
            <a:r>
              <a:rPr lang="en-US" sz="4000" b="1" i="0" u="none" strike="noStrike" dirty="0">
                <a:solidFill>
                  <a:srgbClr val="000000"/>
                </a:solidFill>
                <a:effectLst/>
              </a:rPr>
              <a:t>S&amp;P 500 index increased</a:t>
            </a: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compared to the previous day.)</a:t>
            </a:r>
            <a:endParaRPr lang="en-US" sz="4000" dirty="0">
              <a:solidFill>
                <a:srgbClr val="000000"/>
              </a:solidFill>
              <a:latin typeface="-webkit-standard"/>
              <a:ea typeface="Agrandir"/>
              <a:cs typeface="Agrandir"/>
              <a:sym typeface="Agrandir"/>
            </a:endParaRPr>
          </a:p>
        </p:txBody>
      </p:sp>
      <p:pic>
        <p:nvPicPr>
          <p:cNvPr id="31" name="Picture 30" descr="A diagram of a confused matrix&#10;&#10;Description automatically generated">
            <a:extLst>
              <a:ext uri="{FF2B5EF4-FFF2-40B4-BE49-F238E27FC236}">
                <a16:creationId xmlns:a16="http://schemas.microsoft.com/office/drawing/2014/main" id="{E4E94339-A39E-69D3-8304-83719AE9F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2324100"/>
            <a:ext cx="8839200" cy="789473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EA86D09-0219-27D1-1620-D55C4C135734}"/>
              </a:ext>
            </a:extLst>
          </p:cNvPr>
          <p:cNvSpPr txBox="1"/>
          <p:nvPr/>
        </p:nvSpPr>
        <p:spPr>
          <a:xfrm>
            <a:off x="10058400" y="5143500"/>
            <a:ext cx="3484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True Negatives (TN) </a:t>
            </a:r>
            <a:endParaRPr lang="en-TW" sz="3200" dirty="0">
              <a:highlight>
                <a:srgbClr val="FFFF00"/>
              </a:highligh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DA56AC-5C7A-9A69-803C-7E574429D3D4}"/>
              </a:ext>
            </a:extLst>
          </p:cNvPr>
          <p:cNvSpPr txBox="1"/>
          <p:nvPr/>
        </p:nvSpPr>
        <p:spPr>
          <a:xfrm>
            <a:off x="13335000" y="6743700"/>
            <a:ext cx="3484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True Positives (TP)</a:t>
            </a:r>
            <a:endParaRPr lang="en-TW" sz="3200" dirty="0"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32E337-19E9-68B3-9174-31F596AD59CF}"/>
              </a:ext>
            </a:extLst>
          </p:cNvPr>
          <p:cNvSpPr txBox="1"/>
          <p:nvPr/>
        </p:nvSpPr>
        <p:spPr>
          <a:xfrm>
            <a:off x="13335000" y="4611259"/>
            <a:ext cx="3484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</a:rPr>
              <a:t>False Positives (FP)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-webkit-standard"/>
              </a:rPr>
              <a:t> </a:t>
            </a:r>
            <a:endParaRPr lang="en-TW" sz="3200" dirty="0">
              <a:highlight>
                <a:srgbClr val="00FF00"/>
              </a:highligh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E0F289-6812-AD1F-14EA-DD91F76754BB}"/>
              </a:ext>
            </a:extLst>
          </p:cNvPr>
          <p:cNvSpPr txBox="1"/>
          <p:nvPr/>
        </p:nvSpPr>
        <p:spPr>
          <a:xfrm>
            <a:off x="9963150" y="8255287"/>
            <a:ext cx="37182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-webkit-standard"/>
              </a:rPr>
              <a:t>False Negatives (FN)</a:t>
            </a:r>
            <a:endParaRPr lang="en-TW" sz="3200" dirty="0">
              <a:highlight>
                <a:srgbClr val="00FF00"/>
              </a:highligh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B3221C-EB34-FA95-1D56-F48017756287}"/>
              </a:ext>
            </a:extLst>
          </p:cNvPr>
          <p:cNvSpPr txBox="1"/>
          <p:nvPr/>
        </p:nvSpPr>
        <p:spPr>
          <a:xfrm>
            <a:off x="216476" y="6349726"/>
            <a:ext cx="8839200" cy="26776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False Negatives (FN)</a:t>
            </a:r>
          </a:p>
          <a:p>
            <a:pPr algn="l"/>
            <a:r>
              <a:rPr lang="en-US" sz="2800" b="0" i="1" u="none" strike="noStrike" dirty="0">
                <a:solidFill>
                  <a:srgbClr val="000000"/>
                </a:solidFill>
                <a:effectLst/>
              </a:rPr>
              <a:t>Model predicted Down when the market went Up.</a:t>
            </a:r>
            <a:endParaRPr lang="en-US" sz="28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Possible reasons: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Market recovered due to positive news unrelated to layoffs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Limited representation of rare market behavior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Decision Tree oversimplifying complex market patterns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7C101-EC53-F0AF-5EEA-4FBE07EECD91}"/>
              </a:ext>
            </a:extLst>
          </p:cNvPr>
          <p:cNvSpPr txBox="1"/>
          <p:nvPr/>
        </p:nvSpPr>
        <p:spPr>
          <a:xfrm>
            <a:off x="228600" y="2476500"/>
            <a:ext cx="8763001" cy="35394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False Positives (FP)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= predicted Up, actual Down</a:t>
            </a:r>
            <a:br>
              <a:rPr lang="en-US" sz="32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Possible reasons: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Sudden negative economic news not captured in layoff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The model overweighted a specific industry/location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Market volatility spikes (unexpected events)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32099-EB83-3541-844E-8A22C2A52E44}"/>
              </a:ext>
            </a:extLst>
          </p:cNvPr>
          <p:cNvSpPr txBox="1"/>
          <p:nvPr/>
        </p:nvSpPr>
        <p:spPr>
          <a:xfrm>
            <a:off x="5841421" y="9378496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87.6% accuracy</a:t>
            </a:r>
            <a:endParaRPr lang="en-TW" sz="3600" dirty="0"/>
          </a:p>
        </p:txBody>
      </p:sp>
    </p:spTree>
    <p:extLst>
      <p:ext uri="{BB962C8B-B14F-4D97-AF65-F5344CB8AC3E}">
        <p14:creationId xmlns:p14="http://schemas.microsoft.com/office/powerpoint/2010/main" val="1668805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3792200" y="6053913"/>
            <a:ext cx="4053489" cy="3518500"/>
          </a:xfrm>
          <a:custGeom>
            <a:avLst/>
            <a:gdLst/>
            <a:ahLst/>
            <a:cxnLst/>
            <a:rect l="l" t="t" r="r" b="b"/>
            <a:pathLst>
              <a:path w="8431366" h="7141052">
                <a:moveTo>
                  <a:pt x="0" y="0"/>
                </a:moveTo>
                <a:lnTo>
                  <a:pt x="8431365" y="0"/>
                </a:lnTo>
                <a:lnTo>
                  <a:pt x="8431365" y="7141052"/>
                </a:lnTo>
                <a:lnTo>
                  <a:pt x="0" y="7141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14" name="Freeform 14"/>
          <p:cNvSpPr/>
          <p:nvPr/>
        </p:nvSpPr>
        <p:spPr>
          <a:xfrm rot="2984692">
            <a:off x="15047327" y="3286328"/>
            <a:ext cx="2583851" cy="2919163"/>
          </a:xfrm>
          <a:custGeom>
            <a:avLst/>
            <a:gdLst/>
            <a:ahLst/>
            <a:cxnLst/>
            <a:rect l="l" t="t" r="r" b="b"/>
            <a:pathLst>
              <a:path w="3381397" h="3393738">
                <a:moveTo>
                  <a:pt x="0" y="0"/>
                </a:moveTo>
                <a:lnTo>
                  <a:pt x="3381397" y="0"/>
                </a:lnTo>
                <a:lnTo>
                  <a:pt x="3381397" y="3393738"/>
                </a:lnTo>
                <a:lnTo>
                  <a:pt x="0" y="3393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15" name="Freeform 15"/>
          <p:cNvSpPr/>
          <p:nvPr/>
        </p:nvSpPr>
        <p:spPr>
          <a:xfrm rot="1971934">
            <a:off x="14583488" y="1527394"/>
            <a:ext cx="2737173" cy="2279246"/>
          </a:xfrm>
          <a:custGeom>
            <a:avLst/>
            <a:gdLst/>
            <a:ahLst/>
            <a:cxnLst/>
            <a:rect l="l" t="t" r="r" b="b"/>
            <a:pathLst>
              <a:path w="2950826" h="2961595">
                <a:moveTo>
                  <a:pt x="0" y="0"/>
                </a:moveTo>
                <a:lnTo>
                  <a:pt x="2950826" y="0"/>
                </a:lnTo>
                <a:lnTo>
                  <a:pt x="2950826" y="2961595"/>
                </a:lnTo>
                <a:lnTo>
                  <a:pt x="0" y="296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3950A31A-30A4-D8F4-0F3F-CCA45AA5D61F}"/>
              </a:ext>
            </a:extLst>
          </p:cNvPr>
          <p:cNvSpPr txBox="1"/>
          <p:nvPr/>
        </p:nvSpPr>
        <p:spPr>
          <a:xfrm>
            <a:off x="561109" y="357322"/>
            <a:ext cx="16725901" cy="1219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7200" b="1" spc="-150" dirty="0">
                <a:solidFill>
                  <a:srgbClr val="171717"/>
                </a:solidFill>
                <a:latin typeface="Agrandir Bold"/>
              </a:rPr>
              <a:t>Accuracy: VIX index increased </a:t>
            </a:r>
            <a:r>
              <a:rPr lang="en-US" sz="72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BA22B2-D627-E4AD-9404-3F1148CC9AFC}"/>
              </a:ext>
            </a:extLst>
          </p:cNvPr>
          <p:cNvSpPr txBox="1"/>
          <p:nvPr/>
        </p:nvSpPr>
        <p:spPr>
          <a:xfrm>
            <a:off x="548287" y="1722887"/>
            <a:ext cx="129262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VIX index = </a:t>
            </a:r>
            <a:r>
              <a:rPr lang="en-US" sz="3200" b="0" i="1" u="none" strike="noStrike" dirty="0">
                <a:solidFill>
                  <a:srgbClr val="000000"/>
                </a:solidFill>
                <a:effectLst/>
              </a:rPr>
              <a:t>“fear index”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measuring </a:t>
            </a: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market volatility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Using </a:t>
            </a:r>
            <a:r>
              <a:rPr lang="en-US" sz="3200" b="1" dirty="0" err="1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Layoff_Index</a:t>
            </a:r>
            <a:r>
              <a:rPr lang="en-US" sz="3200" b="1" dirty="0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to predict</a:t>
            </a:r>
            <a:r>
              <a:rPr lang="en-US" sz="3200" b="1" dirty="0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 </a:t>
            </a:r>
            <a:r>
              <a:rPr lang="en-US" sz="3200" b="1" spc="-150" dirty="0">
                <a:solidFill>
                  <a:srgbClr val="171717"/>
                </a:solidFill>
                <a:latin typeface="Agrandir Bold"/>
              </a:rPr>
              <a:t>VIX index increased </a:t>
            </a:r>
            <a:r>
              <a:rPr lang="en-US" sz="32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 </a:t>
            </a:r>
            <a:endParaRPr lang="en-US" sz="3200" b="1" i="0" u="none" strike="noStrike" dirty="0">
              <a:solidFill>
                <a:srgbClr val="000000"/>
              </a:solidFill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1" u="none" strike="noStrike" dirty="0">
                <a:solidFill>
                  <a:srgbClr val="000000"/>
                </a:solidFill>
                <a:effectLst/>
              </a:rPr>
              <a:t>Accuracy for </a:t>
            </a:r>
            <a:r>
              <a:rPr lang="en-US" sz="3200" b="0" i="1" u="none" strike="noStrike" dirty="0" err="1">
                <a:solidFill>
                  <a:srgbClr val="000000"/>
                </a:solidFill>
                <a:effectLst/>
              </a:rPr>
              <a:t>VIX_Up</a:t>
            </a:r>
            <a:r>
              <a:rPr lang="en-US" sz="3200" b="0" i="1" u="none" strike="noStrike" dirty="0">
                <a:solidFill>
                  <a:srgbClr val="000000"/>
                </a:solidFill>
                <a:effectLst/>
              </a:rPr>
              <a:t> (</a:t>
            </a:r>
            <a:r>
              <a:rPr lang="en-US" sz="3200" b="1" spc="-150" dirty="0">
                <a:solidFill>
                  <a:srgbClr val="171717"/>
                </a:solidFill>
                <a:latin typeface="Agrandir Bold"/>
              </a:rPr>
              <a:t>VIX index increased </a:t>
            </a:r>
            <a:r>
              <a:rPr lang="en-US" sz="32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 </a:t>
            </a:r>
            <a:r>
              <a:rPr lang="en-US" sz="3200" b="0" i="1" u="none" strike="noStrike" dirty="0">
                <a:solidFill>
                  <a:srgbClr val="000000"/>
                </a:solidFill>
                <a:effectLst/>
              </a:rPr>
              <a:t>): 0.8889, </a:t>
            </a: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88.89% accuracy</a:t>
            </a:r>
            <a:endParaRPr lang="en-TW" sz="3200" dirty="0"/>
          </a:p>
        </p:txBody>
      </p:sp>
      <p:pic>
        <p:nvPicPr>
          <p:cNvPr id="24" name="Picture 23" descr="A graph with blue lines and orange dots&#10;&#10;Description automatically generated">
            <a:extLst>
              <a:ext uri="{FF2B5EF4-FFF2-40B4-BE49-F238E27FC236}">
                <a16:creationId xmlns:a16="http://schemas.microsoft.com/office/drawing/2014/main" id="{82490713-A7C0-AE15-86D5-CF9736306A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132" y="3777676"/>
            <a:ext cx="12380447" cy="5794737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0987EFD0-686B-CC0B-85FA-EA9F160E92AD}"/>
              </a:ext>
            </a:extLst>
          </p:cNvPr>
          <p:cNvSpPr/>
          <p:nvPr/>
        </p:nvSpPr>
        <p:spPr>
          <a:xfrm>
            <a:off x="3981754" y="4106648"/>
            <a:ext cx="2057400" cy="46516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F3F0A72-4656-29F9-F5AB-EA6B92796979}"/>
              </a:ext>
            </a:extLst>
          </p:cNvPr>
          <p:cNvSpPr/>
          <p:nvPr/>
        </p:nvSpPr>
        <p:spPr>
          <a:xfrm>
            <a:off x="8253600" y="4129481"/>
            <a:ext cx="2057400" cy="46516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B9909E-0C33-7790-8ABB-5AC7B68BD209}"/>
              </a:ext>
            </a:extLst>
          </p:cNvPr>
          <p:cNvSpPr/>
          <p:nvPr/>
        </p:nvSpPr>
        <p:spPr>
          <a:xfrm>
            <a:off x="11277600" y="4152900"/>
            <a:ext cx="2057400" cy="46516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89678" y="484490"/>
            <a:ext cx="17588722" cy="2417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799"/>
              </a:lnSpc>
            </a:pPr>
            <a:r>
              <a:rPr lang="en-US" sz="9999" b="1" spc="-649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Confusion Matrix &amp; Model error (35) :</a:t>
            </a:r>
          </a:p>
          <a:p>
            <a:pPr marL="0" lvl="0" indent="0">
              <a:lnSpc>
                <a:spcPts val="9799"/>
              </a:lnSpc>
            </a:pPr>
            <a:r>
              <a:rPr lang="en-US" sz="60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 </a:t>
            </a:r>
            <a:r>
              <a:rPr lang="en-US" sz="6000" b="1" spc="-150" dirty="0">
                <a:solidFill>
                  <a:srgbClr val="171717"/>
                </a:solidFill>
                <a:latin typeface="Agrandir Bold"/>
              </a:rPr>
              <a:t>VIX index increased </a:t>
            </a:r>
            <a:r>
              <a:rPr lang="en-US" sz="60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 </a:t>
            </a:r>
          </a:p>
        </p:txBody>
      </p:sp>
      <p:sp>
        <p:nvSpPr>
          <p:cNvPr id="10" name="Freeform 10"/>
          <p:cNvSpPr/>
          <p:nvPr/>
        </p:nvSpPr>
        <p:spPr>
          <a:xfrm rot="4128628">
            <a:off x="14670011" y="6895302"/>
            <a:ext cx="2950826" cy="2961595"/>
          </a:xfrm>
          <a:custGeom>
            <a:avLst/>
            <a:gdLst/>
            <a:ahLst/>
            <a:cxnLst/>
            <a:rect l="l" t="t" r="r" b="b"/>
            <a:pathLst>
              <a:path w="2950826" h="2961595">
                <a:moveTo>
                  <a:pt x="0" y="0"/>
                </a:moveTo>
                <a:lnTo>
                  <a:pt x="2950825" y="0"/>
                </a:lnTo>
                <a:lnTo>
                  <a:pt x="2950825" y="2961595"/>
                </a:lnTo>
                <a:lnTo>
                  <a:pt x="0" y="2961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A9D366-17C0-F40A-8E14-0D3175D377D9}"/>
              </a:ext>
            </a:extLst>
          </p:cNvPr>
          <p:cNvSpPr txBox="1"/>
          <p:nvPr/>
        </p:nvSpPr>
        <p:spPr>
          <a:xfrm>
            <a:off x="89678" y="3907628"/>
            <a:ext cx="546561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800" b="0" i="0" u="none" strike="noStrike" dirty="0">
              <a:solidFill>
                <a:srgbClr val="000000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True Positives (TP)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= model predicted Up, actual Up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True Negatives (TN)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= model predicted Down, actual Down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False Positives (FP)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= predicted Up, actual Down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False Negatives (FN)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= predicted Down, actual Up</a:t>
            </a:r>
          </a:p>
        </p:txBody>
      </p:sp>
      <p:pic>
        <p:nvPicPr>
          <p:cNvPr id="5" name="Picture 4" descr="A diagram of a confusion matrix&#10;&#10;Description automatically generated">
            <a:extLst>
              <a:ext uri="{FF2B5EF4-FFF2-40B4-BE49-F238E27FC236}">
                <a16:creationId xmlns:a16="http://schemas.microsoft.com/office/drawing/2014/main" id="{0FAAB207-0699-7CF1-815C-74169D4D8A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16" y="1984376"/>
            <a:ext cx="7914984" cy="7069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3A6FFF-A129-C7CA-B8DD-CC89CD1C23CA}"/>
              </a:ext>
            </a:extLst>
          </p:cNvPr>
          <p:cNvSpPr txBox="1"/>
          <p:nvPr/>
        </p:nvSpPr>
        <p:spPr>
          <a:xfrm>
            <a:off x="8915400" y="4227941"/>
            <a:ext cx="3484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True Negatives (TN) </a:t>
            </a:r>
            <a:endParaRPr lang="en-TW" sz="3200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5DDDF-3A1A-DE1F-08C6-728EBEED87C3}"/>
              </a:ext>
            </a:extLst>
          </p:cNvPr>
          <p:cNvSpPr txBox="1"/>
          <p:nvPr/>
        </p:nvSpPr>
        <p:spPr>
          <a:xfrm>
            <a:off x="12192000" y="5828141"/>
            <a:ext cx="3484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True Positives (TP)</a:t>
            </a:r>
            <a:endParaRPr lang="en-TW" sz="3200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991819-4EE8-424A-5D9B-8C1CDE09CD3A}"/>
              </a:ext>
            </a:extLst>
          </p:cNvPr>
          <p:cNvSpPr txBox="1"/>
          <p:nvPr/>
        </p:nvSpPr>
        <p:spPr>
          <a:xfrm>
            <a:off x="12192000" y="2933700"/>
            <a:ext cx="3484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</a:rPr>
              <a:t>False Positives (FP)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-webkit-standard"/>
              </a:rPr>
              <a:t> </a:t>
            </a:r>
            <a:endParaRPr lang="en-TW" sz="3200" dirty="0">
              <a:highlight>
                <a:srgbClr val="00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9BD83-3332-376B-60FD-E3E5E9AFB6FD}"/>
              </a:ext>
            </a:extLst>
          </p:cNvPr>
          <p:cNvSpPr txBox="1"/>
          <p:nvPr/>
        </p:nvSpPr>
        <p:spPr>
          <a:xfrm>
            <a:off x="8820150" y="7048500"/>
            <a:ext cx="37182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-webkit-standard"/>
              </a:rPr>
              <a:t>False Negatives (FN)</a:t>
            </a:r>
            <a:endParaRPr lang="en-TW" sz="3200" dirty="0">
              <a:highlight>
                <a:srgbClr val="00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214C03-6103-E350-EC2B-A20A45C783E9}"/>
              </a:ext>
            </a:extLst>
          </p:cNvPr>
          <p:cNvSpPr txBox="1"/>
          <p:nvPr/>
        </p:nvSpPr>
        <p:spPr>
          <a:xfrm>
            <a:off x="9235307" y="5831605"/>
            <a:ext cx="2924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spc="-150" dirty="0">
                <a:solidFill>
                  <a:srgbClr val="FF0000"/>
                </a:solidFill>
                <a:latin typeface="Agrandir Bold"/>
                <a:sym typeface="Agrandir Bold"/>
              </a:rPr>
              <a:t>Model error </a:t>
            </a:r>
            <a:endParaRPr lang="en-TW" sz="36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A47C3-4EB9-7D1A-1342-EB1AD38F49B8}"/>
              </a:ext>
            </a:extLst>
          </p:cNvPr>
          <p:cNvSpPr txBox="1"/>
          <p:nvPr/>
        </p:nvSpPr>
        <p:spPr>
          <a:xfrm>
            <a:off x="12399818" y="4041654"/>
            <a:ext cx="2924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spc="-150" dirty="0">
                <a:solidFill>
                  <a:srgbClr val="FF0000"/>
                </a:solidFill>
                <a:latin typeface="Agrandir Bold"/>
                <a:sym typeface="Agrandir Bold"/>
              </a:rPr>
              <a:t>Model error </a:t>
            </a:r>
            <a:endParaRPr lang="en-TW" sz="36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952A3D-16AC-22F2-E643-FCCCF8FDAE86}"/>
              </a:ext>
            </a:extLst>
          </p:cNvPr>
          <p:cNvSpPr txBox="1"/>
          <p:nvPr/>
        </p:nvSpPr>
        <p:spPr>
          <a:xfrm>
            <a:off x="10058400" y="9137628"/>
            <a:ext cx="9258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88.89% accuracy</a:t>
            </a:r>
            <a:endParaRPr lang="en-TW" sz="3600" dirty="0"/>
          </a:p>
        </p:txBody>
      </p:sp>
    </p:spTree>
    <p:extLst>
      <p:ext uri="{BB962C8B-B14F-4D97-AF65-F5344CB8AC3E}">
        <p14:creationId xmlns:p14="http://schemas.microsoft.com/office/powerpoint/2010/main" val="46024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4D57C1C4-EE9E-1A0B-BFAB-AD244FB19D7D}"/>
              </a:ext>
            </a:extLst>
          </p:cNvPr>
          <p:cNvSpPr txBox="1"/>
          <p:nvPr/>
        </p:nvSpPr>
        <p:spPr>
          <a:xfrm>
            <a:off x="408709" y="342900"/>
            <a:ext cx="17879291" cy="2476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7200" b="1" spc="-150" dirty="0">
                <a:solidFill>
                  <a:srgbClr val="171717"/>
                </a:solidFill>
                <a:latin typeface="Agrandir Bold"/>
              </a:rPr>
              <a:t>Accuracy: </a:t>
            </a:r>
            <a:br>
              <a:rPr lang="en-US" sz="7200" b="1" spc="-150" dirty="0">
                <a:solidFill>
                  <a:srgbClr val="171717"/>
                </a:solidFill>
                <a:latin typeface="Agrandir Bold"/>
              </a:rPr>
            </a:br>
            <a:r>
              <a:rPr lang="en-US" sz="7200" b="1" spc="-150" dirty="0">
                <a:solidFill>
                  <a:srgbClr val="171717"/>
                </a:solidFill>
                <a:latin typeface="Agrandir Bold"/>
              </a:rPr>
              <a:t>Dow Jones Industrial Average increased</a:t>
            </a:r>
            <a:endParaRPr lang="en-US" sz="7200" b="1" spc="-150" dirty="0">
              <a:solidFill>
                <a:srgbClr val="171717"/>
              </a:solidFill>
              <a:latin typeface="Agrandir Bold"/>
              <a:sym typeface="Agrandir Bold"/>
            </a:endParaRPr>
          </a:p>
        </p:txBody>
      </p:sp>
      <p:sp>
        <p:nvSpPr>
          <p:cNvPr id="3" name="Freeform 15">
            <a:extLst>
              <a:ext uri="{FF2B5EF4-FFF2-40B4-BE49-F238E27FC236}">
                <a16:creationId xmlns:a16="http://schemas.microsoft.com/office/drawing/2014/main" id="{C9484213-A31D-D05A-08C9-2DD3FE918496}"/>
              </a:ext>
            </a:extLst>
          </p:cNvPr>
          <p:cNvSpPr/>
          <p:nvPr/>
        </p:nvSpPr>
        <p:spPr>
          <a:xfrm rot="1971934">
            <a:off x="14154289" y="7122562"/>
            <a:ext cx="3251301" cy="2480775"/>
          </a:xfrm>
          <a:custGeom>
            <a:avLst/>
            <a:gdLst/>
            <a:ahLst/>
            <a:cxnLst/>
            <a:rect l="l" t="t" r="r" b="b"/>
            <a:pathLst>
              <a:path w="2950826" h="2961595">
                <a:moveTo>
                  <a:pt x="0" y="0"/>
                </a:moveTo>
                <a:lnTo>
                  <a:pt x="2950826" y="0"/>
                </a:lnTo>
                <a:lnTo>
                  <a:pt x="2950826" y="2961595"/>
                </a:lnTo>
                <a:lnTo>
                  <a:pt x="0" y="2961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B2311-6E68-5F8F-2FB6-3E82DE390034}"/>
              </a:ext>
            </a:extLst>
          </p:cNvPr>
          <p:cNvSpPr txBox="1"/>
          <p:nvPr/>
        </p:nvSpPr>
        <p:spPr>
          <a:xfrm>
            <a:off x="408709" y="3059399"/>
            <a:ext cx="129262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Using </a:t>
            </a:r>
            <a:r>
              <a:rPr lang="en-US" sz="3200" b="1" dirty="0" err="1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Layoff_Index</a:t>
            </a:r>
            <a:r>
              <a:rPr lang="en-US" sz="3200" b="1" dirty="0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to predict</a:t>
            </a:r>
            <a:r>
              <a:rPr lang="en-US" sz="3200" b="1" dirty="0">
                <a:solidFill>
                  <a:srgbClr val="000000"/>
                </a:solidFill>
                <a:latin typeface="-webkit-standard"/>
                <a:ea typeface="Agrandir"/>
                <a:cs typeface="Agrandir"/>
                <a:sym typeface="Agrandir"/>
              </a:rPr>
              <a:t> </a:t>
            </a:r>
            <a:r>
              <a:rPr lang="en-US" sz="3200" b="1" spc="-150" dirty="0">
                <a:solidFill>
                  <a:srgbClr val="171717"/>
                </a:solidFill>
                <a:latin typeface="Agrandir Bold"/>
              </a:rPr>
              <a:t>Dow Jones Industrial Average increased (</a:t>
            </a:r>
            <a:r>
              <a:rPr lang="en-US" sz="3200" i="1" dirty="0" err="1">
                <a:solidFill>
                  <a:srgbClr val="000000"/>
                </a:solidFill>
              </a:rPr>
              <a:t>DJ</a:t>
            </a:r>
            <a:r>
              <a:rPr lang="en-US" sz="3200" b="0" i="1" u="none" strike="noStrike" dirty="0" err="1">
                <a:solidFill>
                  <a:srgbClr val="000000"/>
                </a:solidFill>
                <a:effectLst/>
              </a:rPr>
              <a:t>_Up</a:t>
            </a:r>
            <a:r>
              <a:rPr lang="en-US" sz="3200" b="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3200" b="1" spc="-150" dirty="0">
                <a:solidFill>
                  <a:srgbClr val="171717"/>
                </a:solidFill>
                <a:latin typeface="Agrandir Bold"/>
              </a:rPr>
              <a:t>)</a:t>
            </a:r>
            <a:endParaRPr lang="en-US" sz="3200" b="1" dirty="0">
              <a:solidFill>
                <a:srgbClr val="000000"/>
              </a:solidFill>
              <a:latin typeface="-webkit-standard"/>
              <a:ea typeface="Agrandir"/>
              <a:cs typeface="Agrandir"/>
              <a:sym typeface="Agrandir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1" u="none" strike="noStrike" dirty="0">
                <a:solidFill>
                  <a:srgbClr val="000000"/>
                </a:solidFill>
                <a:effectLst/>
              </a:rPr>
              <a:t>Accuracy for </a:t>
            </a:r>
            <a:r>
              <a:rPr lang="en-US" sz="3200" i="1" dirty="0" err="1">
                <a:solidFill>
                  <a:srgbClr val="000000"/>
                </a:solidFill>
              </a:rPr>
              <a:t>DJ</a:t>
            </a:r>
            <a:r>
              <a:rPr lang="en-US" sz="3200" b="0" i="1" u="none" strike="noStrike" dirty="0" err="1">
                <a:solidFill>
                  <a:srgbClr val="000000"/>
                </a:solidFill>
                <a:effectLst/>
              </a:rPr>
              <a:t>_Up</a:t>
            </a:r>
            <a:r>
              <a:rPr lang="en-US" sz="3200" b="0" i="1" u="none" strike="noStrike" dirty="0">
                <a:solidFill>
                  <a:srgbClr val="000000"/>
                </a:solidFill>
                <a:effectLst/>
              </a:rPr>
              <a:t> (</a:t>
            </a:r>
            <a:r>
              <a:rPr lang="en-US" sz="3200" b="1" spc="-150" dirty="0">
                <a:solidFill>
                  <a:srgbClr val="171717"/>
                </a:solidFill>
                <a:latin typeface="Agrandir Bold"/>
              </a:rPr>
              <a:t>VIX index increased </a:t>
            </a:r>
            <a:r>
              <a:rPr lang="en-US" sz="32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 </a:t>
            </a:r>
            <a:r>
              <a:rPr lang="en-US" sz="3200" b="0" i="1" u="none" strike="noStrike" dirty="0">
                <a:solidFill>
                  <a:srgbClr val="000000"/>
                </a:solidFill>
                <a:effectLst/>
              </a:rPr>
              <a:t>):</a:t>
            </a:r>
            <a:r>
              <a:rPr lang="en-TW" sz="3200" dirty="0"/>
              <a:t> 0.8698</a:t>
            </a:r>
            <a:r>
              <a:rPr lang="en-US" sz="3200" b="0" i="1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86.98% accuracy</a:t>
            </a:r>
            <a:endParaRPr lang="en-TW" sz="3200" dirty="0"/>
          </a:p>
        </p:txBody>
      </p:sp>
      <p:pic>
        <p:nvPicPr>
          <p:cNvPr id="8" name="Picture 7" descr="A graph with blue lines and dots&#10;&#10;Description automatically generated">
            <a:extLst>
              <a:ext uri="{FF2B5EF4-FFF2-40B4-BE49-F238E27FC236}">
                <a16:creationId xmlns:a16="http://schemas.microsoft.com/office/drawing/2014/main" id="{BBEA33B3-C648-B17B-44A1-F3F3C309C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4782647"/>
            <a:ext cx="10591800" cy="495755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B4666F2-6C54-31B4-AE24-4C70C5CA2B50}"/>
              </a:ext>
            </a:extLst>
          </p:cNvPr>
          <p:cNvSpPr/>
          <p:nvPr/>
        </p:nvSpPr>
        <p:spPr>
          <a:xfrm>
            <a:off x="4814455" y="4782647"/>
            <a:ext cx="2057400" cy="46516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9496A13-65AC-A0BA-4687-3CB6B34DE18D}"/>
              </a:ext>
            </a:extLst>
          </p:cNvPr>
          <p:cNvSpPr/>
          <p:nvPr/>
        </p:nvSpPr>
        <p:spPr>
          <a:xfrm>
            <a:off x="8115300" y="4838066"/>
            <a:ext cx="2057400" cy="46516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74406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26BC09E3-80E0-2199-7A55-479F5FA37BC9}"/>
              </a:ext>
            </a:extLst>
          </p:cNvPr>
          <p:cNvSpPr/>
          <p:nvPr/>
        </p:nvSpPr>
        <p:spPr>
          <a:xfrm>
            <a:off x="228600" y="5676900"/>
            <a:ext cx="5891130" cy="4125610"/>
          </a:xfrm>
          <a:custGeom>
            <a:avLst/>
            <a:gdLst/>
            <a:ahLst/>
            <a:cxnLst/>
            <a:rect l="l" t="t" r="r" b="b"/>
            <a:pathLst>
              <a:path w="7371463" h="6158994">
                <a:moveTo>
                  <a:pt x="0" y="0"/>
                </a:moveTo>
                <a:lnTo>
                  <a:pt x="7371463" y="0"/>
                </a:lnTo>
                <a:lnTo>
                  <a:pt x="7371463" y="6158993"/>
                </a:lnTo>
                <a:lnTo>
                  <a:pt x="0" y="6158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 dirty="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C0FDE452-8DD6-B978-9544-561B7565B767}"/>
              </a:ext>
            </a:extLst>
          </p:cNvPr>
          <p:cNvSpPr txBox="1"/>
          <p:nvPr/>
        </p:nvSpPr>
        <p:spPr>
          <a:xfrm>
            <a:off x="561109" y="357322"/>
            <a:ext cx="17726891" cy="2476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7200" b="1" spc="-150" dirty="0">
                <a:solidFill>
                  <a:srgbClr val="171717"/>
                </a:solidFill>
                <a:latin typeface="Agrandir Bold"/>
                <a:sym typeface="Agrandir Bold"/>
              </a:rPr>
              <a:t>Confusion Matrix &amp; Model error (41):</a:t>
            </a:r>
          </a:p>
          <a:p>
            <a:pPr marL="0" lvl="0" indent="0" algn="l">
              <a:lnSpc>
                <a:spcPts val="9799"/>
              </a:lnSpc>
            </a:pPr>
            <a:r>
              <a:rPr lang="en-US" sz="7200" b="1" spc="-150" dirty="0">
                <a:solidFill>
                  <a:srgbClr val="171717"/>
                </a:solidFill>
                <a:latin typeface="Agrandir Bold"/>
              </a:rPr>
              <a:t>Dow Jones Industrial Average increased</a:t>
            </a:r>
            <a:endParaRPr lang="en-US" sz="7200" b="1" spc="-150" dirty="0">
              <a:solidFill>
                <a:srgbClr val="171717"/>
              </a:solidFill>
              <a:latin typeface="Agrandir Bold"/>
              <a:sym typeface="Agrandir Bold"/>
            </a:endParaRPr>
          </a:p>
        </p:txBody>
      </p:sp>
      <p:pic>
        <p:nvPicPr>
          <p:cNvPr id="7" name="Picture 6" descr="A diagram of a confused matrix&#10;&#10;Description automatically generated">
            <a:extLst>
              <a:ext uri="{FF2B5EF4-FFF2-40B4-BE49-F238E27FC236}">
                <a16:creationId xmlns:a16="http://schemas.microsoft.com/office/drawing/2014/main" id="{5687B389-11B2-9059-3816-74A49D48E4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297" y="3141647"/>
            <a:ext cx="7444651" cy="66491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E0130F-4A91-B391-6170-68B32BBC73DA}"/>
              </a:ext>
            </a:extLst>
          </p:cNvPr>
          <p:cNvSpPr txBox="1"/>
          <p:nvPr/>
        </p:nvSpPr>
        <p:spPr>
          <a:xfrm>
            <a:off x="14249400" y="8716182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0" u="none" strike="noStrike" dirty="0">
                <a:solidFill>
                  <a:srgbClr val="000000"/>
                </a:solidFill>
                <a:effectLst/>
              </a:rPr>
              <a:t>86.98% accuracy</a:t>
            </a:r>
            <a:endParaRPr lang="en-TW" sz="4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41DB8-9F0F-C230-B6E3-92BF28304ADA}"/>
              </a:ext>
            </a:extLst>
          </p:cNvPr>
          <p:cNvSpPr txBox="1"/>
          <p:nvPr/>
        </p:nvSpPr>
        <p:spPr>
          <a:xfrm>
            <a:off x="5823238" y="4054991"/>
            <a:ext cx="3484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True Negatives (TN) </a:t>
            </a:r>
            <a:endParaRPr lang="en-TW" sz="3200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A9831-C867-0335-5D49-2BE3671FB01C}"/>
              </a:ext>
            </a:extLst>
          </p:cNvPr>
          <p:cNvSpPr txBox="1"/>
          <p:nvPr/>
        </p:nvSpPr>
        <p:spPr>
          <a:xfrm>
            <a:off x="9496716" y="6755663"/>
            <a:ext cx="3484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True Positives (TP)</a:t>
            </a:r>
            <a:endParaRPr lang="en-TW" sz="32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B3398-3303-8037-5FD8-E7408C02F41D}"/>
              </a:ext>
            </a:extLst>
          </p:cNvPr>
          <p:cNvSpPr txBox="1"/>
          <p:nvPr/>
        </p:nvSpPr>
        <p:spPr>
          <a:xfrm>
            <a:off x="9848850" y="3720525"/>
            <a:ext cx="3484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</a:rPr>
              <a:t>False Positives (FP)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-webkit-standard"/>
              </a:rPr>
              <a:t> </a:t>
            </a:r>
            <a:endParaRPr lang="en-TW" sz="3200" dirty="0">
              <a:highlight>
                <a:srgbClr val="00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5EB809-688B-2817-C4AA-4EBE7A887F8C}"/>
              </a:ext>
            </a:extLst>
          </p:cNvPr>
          <p:cNvSpPr txBox="1"/>
          <p:nvPr/>
        </p:nvSpPr>
        <p:spPr>
          <a:xfrm>
            <a:off x="5706340" y="8060535"/>
            <a:ext cx="37182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-webkit-standard"/>
              </a:rPr>
              <a:t>False Negatives (FN)</a:t>
            </a:r>
            <a:endParaRPr lang="en-TW" sz="3200" dirty="0">
              <a:highlight>
                <a:srgbClr val="00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2E3162-C35C-A481-A112-5DE201FD0181}"/>
              </a:ext>
            </a:extLst>
          </p:cNvPr>
          <p:cNvSpPr txBox="1"/>
          <p:nvPr/>
        </p:nvSpPr>
        <p:spPr>
          <a:xfrm>
            <a:off x="5861798" y="6704192"/>
            <a:ext cx="2924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spc="-150" dirty="0">
                <a:solidFill>
                  <a:srgbClr val="FF0000"/>
                </a:solidFill>
                <a:latin typeface="Agrandir Bold"/>
                <a:sym typeface="Agrandir Bold"/>
              </a:rPr>
              <a:t>Model error </a:t>
            </a:r>
            <a:endParaRPr lang="en-TW" sz="36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3B3938-D0EA-43C7-10AB-B8F16E8D11F1}"/>
              </a:ext>
            </a:extLst>
          </p:cNvPr>
          <p:cNvSpPr txBox="1"/>
          <p:nvPr/>
        </p:nvSpPr>
        <p:spPr>
          <a:xfrm>
            <a:off x="9848850" y="5098344"/>
            <a:ext cx="2924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spc="-150" dirty="0">
                <a:solidFill>
                  <a:srgbClr val="FF0000"/>
                </a:solidFill>
                <a:latin typeface="Agrandir Bold"/>
                <a:sym typeface="Agrandir Bold"/>
              </a:rPr>
              <a:t>Model error </a:t>
            </a:r>
            <a:endParaRPr lang="en-TW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847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952B121C-9A9F-19F6-587C-E2C7DFC40D3C}"/>
              </a:ext>
            </a:extLst>
          </p:cNvPr>
          <p:cNvSpPr/>
          <p:nvPr/>
        </p:nvSpPr>
        <p:spPr>
          <a:xfrm>
            <a:off x="10535820" y="4525751"/>
            <a:ext cx="7752180" cy="4844509"/>
          </a:xfrm>
          <a:custGeom>
            <a:avLst/>
            <a:gdLst/>
            <a:ahLst/>
            <a:cxnLst/>
            <a:rect l="l" t="t" r="r" b="b"/>
            <a:pathLst>
              <a:path w="11733517" h="7527379">
                <a:moveTo>
                  <a:pt x="0" y="0"/>
                </a:moveTo>
                <a:lnTo>
                  <a:pt x="11733518" y="0"/>
                </a:lnTo>
                <a:lnTo>
                  <a:pt x="11733518" y="7527379"/>
                </a:lnTo>
                <a:lnTo>
                  <a:pt x="0" y="7527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D20AD2C2-D464-D764-727E-D6BF88A047DB}"/>
              </a:ext>
            </a:extLst>
          </p:cNvPr>
          <p:cNvSpPr/>
          <p:nvPr/>
        </p:nvSpPr>
        <p:spPr>
          <a:xfrm rot="4128628">
            <a:off x="14687962" y="1172152"/>
            <a:ext cx="2950826" cy="2961595"/>
          </a:xfrm>
          <a:custGeom>
            <a:avLst/>
            <a:gdLst/>
            <a:ahLst/>
            <a:cxnLst/>
            <a:rect l="l" t="t" r="r" b="b"/>
            <a:pathLst>
              <a:path w="2950826" h="2961595">
                <a:moveTo>
                  <a:pt x="0" y="0"/>
                </a:moveTo>
                <a:lnTo>
                  <a:pt x="2950825" y="0"/>
                </a:lnTo>
                <a:lnTo>
                  <a:pt x="2950825" y="2961595"/>
                </a:lnTo>
                <a:lnTo>
                  <a:pt x="0" y="296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40AB484-838A-2034-D8F7-7B1419F791CF}"/>
              </a:ext>
            </a:extLst>
          </p:cNvPr>
          <p:cNvSpPr txBox="1"/>
          <p:nvPr/>
        </p:nvSpPr>
        <p:spPr>
          <a:xfrm>
            <a:off x="914400" y="291640"/>
            <a:ext cx="10135735" cy="132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799"/>
              </a:lnSpc>
            </a:pPr>
            <a:r>
              <a:rPr lang="en-US" sz="9600" b="1" i="0" u="none" strike="noStrike" dirty="0">
                <a:solidFill>
                  <a:srgbClr val="000000"/>
                </a:solidFill>
                <a:effectLst/>
              </a:rPr>
              <a:t>Users / Usefulness</a:t>
            </a:r>
            <a:endParaRPr lang="en-US" sz="9999" b="1" spc="-150" dirty="0">
              <a:solidFill>
                <a:srgbClr val="171717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FFF19-E6AA-27CE-84DC-4FA4211AF29C}"/>
              </a:ext>
            </a:extLst>
          </p:cNvPr>
          <p:cNvSpPr txBox="1"/>
          <p:nvPr/>
        </p:nvSpPr>
        <p:spPr>
          <a:xfrm>
            <a:off x="914400" y="1618863"/>
            <a:ext cx="9677400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0" i="0" u="none" strike="noStrike" dirty="0">
                <a:solidFill>
                  <a:srgbClr val="000000"/>
                </a:solidFill>
                <a:effectLst/>
              </a:rPr>
              <a:t>This system can be useful for:</a:t>
            </a:r>
          </a:p>
          <a:p>
            <a:pPr algn="l"/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1. Financial Analysts &amp; Traders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</a:rPr>
              <a:t>Identifying market sentiment signals driven by workforce reductions.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</a:rPr>
              <a:t>Adding alternative datasets (layoff data) to trading models.</a:t>
            </a:r>
          </a:p>
          <a:p>
            <a:pPr algn="l"/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2. Economists &amp; Policy Researchers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</a:rPr>
              <a:t>Understanding how labor market stress correlates with market volatility.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</a:rPr>
              <a:t>Monitoring systemic risk indicators during recession periods.</a:t>
            </a:r>
          </a:p>
          <a:p>
            <a:pPr algn="l"/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3. Business Strategy Teams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</a:rPr>
              <a:t>Evaluating whether layoff trends within industries impact investor reactions</a:t>
            </a:r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3117625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952B121C-9A9F-19F6-587C-E2C7DFC40D3C}"/>
              </a:ext>
            </a:extLst>
          </p:cNvPr>
          <p:cNvSpPr/>
          <p:nvPr/>
        </p:nvSpPr>
        <p:spPr>
          <a:xfrm>
            <a:off x="11658600" y="6057900"/>
            <a:ext cx="6975764" cy="3777709"/>
          </a:xfrm>
          <a:custGeom>
            <a:avLst/>
            <a:gdLst/>
            <a:ahLst/>
            <a:cxnLst/>
            <a:rect l="l" t="t" r="r" b="b"/>
            <a:pathLst>
              <a:path w="11733517" h="7527379">
                <a:moveTo>
                  <a:pt x="0" y="0"/>
                </a:moveTo>
                <a:lnTo>
                  <a:pt x="11733518" y="0"/>
                </a:lnTo>
                <a:lnTo>
                  <a:pt x="11733518" y="7527379"/>
                </a:lnTo>
                <a:lnTo>
                  <a:pt x="0" y="7527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40AB484-838A-2034-D8F7-7B1419F791CF}"/>
              </a:ext>
            </a:extLst>
          </p:cNvPr>
          <p:cNvSpPr txBox="1"/>
          <p:nvPr/>
        </p:nvSpPr>
        <p:spPr>
          <a:xfrm>
            <a:off x="914400" y="1173879"/>
            <a:ext cx="10135735" cy="132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799"/>
              </a:lnSpc>
            </a:pPr>
            <a:r>
              <a:rPr lang="en-US" sz="9999" b="1" spc="-150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2B6BA7-DF61-B037-5F48-783A23DF4544}"/>
              </a:ext>
            </a:extLst>
          </p:cNvPr>
          <p:cNvSpPr txBox="1"/>
          <p:nvPr/>
        </p:nvSpPr>
        <p:spPr>
          <a:xfrm>
            <a:off x="914400" y="2525347"/>
            <a:ext cx="103632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1. Add Macro-Economic Features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Interest rates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Inflation (CPI)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Unemployment rates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GDP changes</a:t>
            </a:r>
          </a:p>
          <a:p>
            <a:pPr algn="l"/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This would reduce false negatives and improve robustness.</a:t>
            </a:r>
          </a:p>
          <a:p>
            <a:pPr algn="l"/>
            <a:r>
              <a:rPr lang="en-US" sz="3200" b="1" dirty="0">
                <a:solidFill>
                  <a:srgbClr val="000000"/>
                </a:solidFill>
              </a:rPr>
              <a:t>2</a:t>
            </a: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. Handle Class Imbalance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Use SMOTE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Apply class-weighted training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Balance Up vs Down days more effectively</a:t>
            </a:r>
          </a:p>
          <a:p>
            <a:pPr algn="l"/>
            <a:r>
              <a:rPr lang="en-US" sz="3200" b="1" dirty="0">
                <a:solidFill>
                  <a:srgbClr val="000000"/>
                </a:solidFill>
              </a:rPr>
              <a:t>3</a:t>
            </a: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. Convert to a Time-Series Forecasting Model</a:t>
            </a:r>
          </a:p>
          <a:p>
            <a:pPr algn="l"/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Instead of treating each day independently, incorporate: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lag values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moving averages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volatility windows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94B87A8-23C2-9E29-CBB9-C5BEFF116674}"/>
              </a:ext>
            </a:extLst>
          </p:cNvPr>
          <p:cNvSpPr/>
          <p:nvPr/>
        </p:nvSpPr>
        <p:spPr>
          <a:xfrm rot="4128628">
            <a:off x="13984212" y="2931204"/>
            <a:ext cx="2950826" cy="2961595"/>
          </a:xfrm>
          <a:custGeom>
            <a:avLst/>
            <a:gdLst/>
            <a:ahLst/>
            <a:cxnLst/>
            <a:rect l="l" t="t" r="r" b="b"/>
            <a:pathLst>
              <a:path w="2950826" h="2961595">
                <a:moveTo>
                  <a:pt x="0" y="0"/>
                </a:moveTo>
                <a:lnTo>
                  <a:pt x="2950825" y="0"/>
                </a:lnTo>
                <a:lnTo>
                  <a:pt x="2950825" y="2961595"/>
                </a:lnTo>
                <a:lnTo>
                  <a:pt x="0" y="296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52718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933</Words>
  <Application>Microsoft Macintosh PowerPoint</Application>
  <PresentationFormat>Custom</PresentationFormat>
  <Paragraphs>145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Agrandir</vt:lpstr>
      <vt:lpstr>Calibri</vt:lpstr>
      <vt:lpstr>Baloo Bhaijaan</vt:lpstr>
      <vt:lpstr>Agrandir Bold</vt:lpstr>
      <vt:lpstr>-webkit-standard</vt:lpstr>
      <vt:lpstr>Aptos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 Han Jhang</cp:lastModifiedBy>
  <cp:revision>2</cp:revision>
  <dcterms:created xsi:type="dcterms:W3CDTF">2006-08-16T00:00:00Z</dcterms:created>
  <dcterms:modified xsi:type="dcterms:W3CDTF">2025-12-07T10:56:28Z</dcterms:modified>
  <dc:identifier>DAG6uAtA4MU</dc:identifier>
</cp:coreProperties>
</file>